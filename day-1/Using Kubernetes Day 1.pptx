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316" r:id="rId5"/>
    <p:sldId id="318" r:id="rId6"/>
    <p:sldId id="319" r:id="rId7"/>
    <p:sldId id="266" r:id="rId8"/>
    <p:sldId id="258" r:id="rId9"/>
    <p:sldId id="271" r:id="rId10"/>
    <p:sldId id="262" r:id="rId11"/>
    <p:sldId id="273" r:id="rId12"/>
    <p:sldId id="320" r:id="rId13"/>
    <p:sldId id="275" r:id="rId14"/>
    <p:sldId id="276" r:id="rId15"/>
    <p:sldId id="277" r:id="rId16"/>
    <p:sldId id="283" r:id="rId17"/>
    <p:sldId id="278" r:id="rId18"/>
    <p:sldId id="280" r:id="rId19"/>
    <p:sldId id="279" r:id="rId20"/>
    <p:sldId id="281" r:id="rId21"/>
    <p:sldId id="289" r:id="rId22"/>
    <p:sldId id="282" r:id="rId23"/>
    <p:sldId id="288" r:id="rId24"/>
    <p:sldId id="290" r:id="rId25"/>
    <p:sldId id="292" r:id="rId26"/>
    <p:sldId id="291" r:id="rId27"/>
    <p:sldId id="321" r:id="rId28"/>
    <p:sldId id="263" r:id="rId29"/>
    <p:sldId id="325" r:id="rId30"/>
    <p:sldId id="294" r:id="rId31"/>
    <p:sldId id="322" r:id="rId32"/>
    <p:sldId id="296" r:id="rId33"/>
    <p:sldId id="295" r:id="rId34"/>
    <p:sldId id="297" r:id="rId35"/>
    <p:sldId id="300" r:id="rId36"/>
    <p:sldId id="301" r:id="rId37"/>
    <p:sldId id="306" r:id="rId38"/>
    <p:sldId id="305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  <a:srgbClr val="F4C2EE"/>
    <a:srgbClr val="F2B0E9"/>
    <a:srgbClr val="FFF2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28" autoAdjust="0"/>
    <p:restoredTop sz="96301"/>
  </p:normalViewPr>
  <p:slideViewPr>
    <p:cSldViewPr snapToGrid="0">
      <p:cViewPr varScale="1">
        <p:scale>
          <a:sx n="122" d="100"/>
          <a:sy n="122" d="100"/>
        </p:scale>
        <p:origin x="7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79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44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289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719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14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292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49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69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15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62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230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23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kizoa.com/Movie-Maker/d158326966k7353086o1/the-founde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cf.io/blog/2017/06/05/30-highest-velocity-open-source-projects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avivi/k8s-training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workloads/controllers/statefulset/" TargetMode="External"/><Relationship Id="rId2" Type="http://schemas.openxmlformats.org/officeDocument/2006/relationships/hyperlink" Target="https://kubernetes.io/docs/concepts/workloads/controllers/deployment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kubernetes.io/docs/concepts/workloads/controllers/daemonset/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avivi/k8s-training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06" y="425003"/>
            <a:ext cx="12028868" cy="601443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70489" y="1829582"/>
            <a:ext cx="6186152" cy="1181637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Using Kubernetes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55345" y="3718729"/>
            <a:ext cx="5001296" cy="1394138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Nesia Avivi</a:t>
            </a:r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6555345" y="3021660"/>
            <a:ext cx="5001296" cy="13941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000" dirty="0">
                <a:solidFill>
                  <a:schemeClr val="accent1">
                    <a:lumMod val="75000"/>
                  </a:schemeClr>
                </a:solidFill>
              </a:rPr>
              <a:t>Day 1</a:t>
            </a:r>
          </a:p>
        </p:txBody>
      </p:sp>
    </p:spTree>
    <p:extLst>
      <p:ext uri="{BB962C8B-B14F-4D97-AF65-F5344CB8AC3E}">
        <p14:creationId xmlns:p14="http://schemas.microsoft.com/office/powerpoint/2010/main" val="627216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690687"/>
            <a:ext cx="5171090" cy="9579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2953187"/>
            <a:ext cx="5171090" cy="10512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200" y="1690687"/>
            <a:ext cx="5171090" cy="95791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4240704"/>
            <a:ext cx="5171090" cy="9303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</p:spTree>
    <p:extLst>
      <p:ext uri="{BB962C8B-B14F-4D97-AF65-F5344CB8AC3E}">
        <p14:creationId xmlns:p14="http://schemas.microsoft.com/office/powerpoint/2010/main" val="2753488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Microservices</a:t>
            </a:r>
            <a:endParaRPr lang="en-US" b="1" dirty="0"/>
          </a:p>
        </p:txBody>
      </p:sp>
      <p:pic>
        <p:nvPicPr>
          <p:cNvPr id="4" name="Content Placeholder 3">
            <a:hlinkClick r:id="rId2"/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3365" y="1316290"/>
            <a:ext cx="6218961" cy="3570144"/>
          </a:xfrm>
        </p:spPr>
      </p:pic>
      <p:pic>
        <p:nvPicPr>
          <p:cNvPr id="6" name="Content Placeholder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2234" y="4335516"/>
            <a:ext cx="5868636" cy="209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844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ounded Rectangle 36"/>
          <p:cNvSpPr/>
          <p:nvPr/>
        </p:nvSpPr>
        <p:spPr>
          <a:xfrm>
            <a:off x="4997319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7274860" y="2111188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lowchart: Magnetic Disk 21"/>
          <p:cNvSpPr/>
          <p:nvPr/>
        </p:nvSpPr>
        <p:spPr>
          <a:xfrm>
            <a:off x="3154820" y="547759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24" name="Flowchart: Magnetic Disk 23"/>
          <p:cNvSpPr/>
          <p:nvPr/>
        </p:nvSpPr>
        <p:spPr>
          <a:xfrm>
            <a:off x="548999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25" name="Flowchart: Magnetic Disk 24"/>
          <p:cNvSpPr/>
          <p:nvPr/>
        </p:nvSpPr>
        <p:spPr>
          <a:xfrm>
            <a:off x="776753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27" name="Flowchart: Direct Access Storage 26"/>
          <p:cNvSpPr/>
          <p:nvPr/>
        </p:nvSpPr>
        <p:spPr>
          <a:xfrm>
            <a:off x="1846350" y="5604607"/>
            <a:ext cx="1135117" cy="454021"/>
          </a:xfrm>
          <a:prstGeom prst="flowChartMagneticDrum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lowchart: Magnetic Disk 27"/>
          <p:cNvSpPr/>
          <p:nvPr/>
        </p:nvSpPr>
        <p:spPr>
          <a:xfrm>
            <a:off x="784789" y="5556629"/>
            <a:ext cx="740979" cy="576998"/>
          </a:xfrm>
          <a:prstGeom prst="flowChartMagneticDisk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grpSp>
        <p:nvGrpSpPr>
          <p:cNvPr id="32" name="Group 31"/>
          <p:cNvGrpSpPr/>
          <p:nvPr/>
        </p:nvGrpSpPr>
        <p:grpSpPr>
          <a:xfrm>
            <a:off x="4997319" y="2111188"/>
            <a:ext cx="2106708" cy="941294"/>
            <a:chOff x="4997319" y="2111188"/>
            <a:chExt cx="2106708" cy="941294"/>
          </a:xfrm>
        </p:grpSpPr>
        <p:sp>
          <p:nvSpPr>
            <p:cNvPr id="14" name="Rounded Rectangle 13"/>
            <p:cNvSpPr/>
            <p:nvPr/>
          </p:nvSpPr>
          <p:spPr>
            <a:xfrm>
              <a:off x="4997319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92538" y="2304021"/>
              <a:ext cx="1716269" cy="64516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Interface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4997319" y="3132665"/>
            <a:ext cx="2106708" cy="941294"/>
            <a:chOff x="4997319" y="3132665"/>
            <a:chExt cx="2106708" cy="941294"/>
          </a:xfrm>
        </p:grpSpPr>
        <p:sp>
          <p:nvSpPr>
            <p:cNvPr id="17" name="Rounded Rectangle 16"/>
            <p:cNvSpPr/>
            <p:nvPr/>
          </p:nvSpPr>
          <p:spPr>
            <a:xfrm>
              <a:off x="4997319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519253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Account-Service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7274860" y="3132665"/>
            <a:ext cx="2106708" cy="941294"/>
            <a:chOff x="7274860" y="3132665"/>
            <a:chExt cx="2106708" cy="941294"/>
          </a:xfrm>
        </p:grpSpPr>
        <p:sp>
          <p:nvSpPr>
            <p:cNvPr id="16" name="Rounded Rectangle 15"/>
            <p:cNvSpPr/>
            <p:nvPr/>
          </p:nvSpPr>
          <p:spPr>
            <a:xfrm>
              <a:off x="7274860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47007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Auth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36" name="Rectangle 35"/>
          <p:cNvSpPr/>
          <p:nvPr/>
        </p:nvSpPr>
        <p:spPr>
          <a:xfrm>
            <a:off x="7470078" y="2304021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Mgmt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7274857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2719778" y="2111188"/>
            <a:ext cx="2106708" cy="941294"/>
            <a:chOff x="2719778" y="2111188"/>
            <a:chExt cx="2106708" cy="941294"/>
          </a:xfrm>
        </p:grpSpPr>
        <p:sp>
          <p:nvSpPr>
            <p:cNvPr id="15" name="Rounded Rectangle 14"/>
            <p:cNvSpPr/>
            <p:nvPr/>
          </p:nvSpPr>
          <p:spPr>
            <a:xfrm>
              <a:off x="2719778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981467" y="2259251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File-Service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2719778" y="3132665"/>
            <a:ext cx="2106708" cy="941294"/>
            <a:chOff x="2719778" y="3132665"/>
            <a:chExt cx="2106708" cy="941294"/>
          </a:xfrm>
        </p:grpSpPr>
        <p:sp>
          <p:nvSpPr>
            <p:cNvPr id="18" name="Rounded Rectangle 17"/>
            <p:cNvSpPr/>
            <p:nvPr/>
          </p:nvSpPr>
          <p:spPr>
            <a:xfrm>
              <a:off x="2719778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81466" y="3286572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Orders-Service</a:t>
              </a:r>
            </a:p>
          </p:txBody>
        </p:sp>
      </p:grpSp>
      <p:sp>
        <p:nvSpPr>
          <p:cNvPr id="44" name="Flowchart: Magnetic Disk 43"/>
          <p:cNvSpPr/>
          <p:nvPr/>
        </p:nvSpPr>
        <p:spPr>
          <a:xfrm>
            <a:off x="10325001" y="5425569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719778" y="4154142"/>
            <a:ext cx="2106708" cy="941294"/>
            <a:chOff x="2719778" y="4154142"/>
            <a:chExt cx="2106708" cy="941294"/>
          </a:xfrm>
        </p:grpSpPr>
        <p:sp>
          <p:nvSpPr>
            <p:cNvPr id="21" name="Rounded Rectangle 20"/>
            <p:cNvSpPr/>
            <p:nvPr/>
          </p:nvSpPr>
          <p:spPr>
            <a:xfrm>
              <a:off x="2719778" y="4154142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2968019" y="4313893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Notofication</a:t>
              </a:r>
              <a:r>
                <a:rPr lang="en-US" dirty="0">
                  <a:solidFill>
                    <a:schemeClr val="tx1"/>
                  </a:solidFill>
                </a:rPr>
                <a:t>-Service</a:t>
              </a:r>
            </a:p>
          </p:txBody>
        </p:sp>
      </p:grpSp>
      <p:sp>
        <p:nvSpPr>
          <p:cNvPr id="47" name="Rectangle 46"/>
          <p:cNvSpPr/>
          <p:nvPr/>
        </p:nvSpPr>
        <p:spPr>
          <a:xfrm>
            <a:off x="7470078" y="4318817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Payment-Service</a:t>
            </a:r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487360" y="185927"/>
            <a:ext cx="4326694" cy="12531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4000" dirty="0"/>
              <a:t>Split the application into smaller chunks</a:t>
            </a:r>
          </a:p>
        </p:txBody>
      </p:sp>
    </p:spTree>
    <p:extLst>
      <p:ext uri="{BB962C8B-B14F-4D97-AF65-F5344CB8AC3E}">
        <p14:creationId xmlns:p14="http://schemas.microsoft.com/office/powerpoint/2010/main" val="102822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5 E" pathEditMode="relative" ptsTypes="">
                                      <p:cBhvr>
                                        <p:cTn id="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1.48148E-6 L 0.20925 -0.00162 " pathEditMode="relative" rAng="0" ptsTypes="AA">
                                      <p:cBhvr>
                                        <p:cTn id="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56" y="-93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11111E-6 L -0.21016 -0.00787 " pathEditMode="relative" rAng="0" ptsTypes="AA">
                                      <p:cBhvr>
                                        <p:cTn id="1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508" y="-394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1.48148E-6 L 0.00013 0.14931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7454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4.44444E-6 L -0.10235 -0.00602 " pathEditMode="relative" rAng="0" ptsTypes="AA">
                                      <p:cBhvr>
                                        <p:cTn id="1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117" y="-3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997319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7274860" y="2111188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Magnetic Disk 5"/>
          <p:cNvSpPr/>
          <p:nvPr/>
        </p:nvSpPr>
        <p:spPr>
          <a:xfrm>
            <a:off x="3154820" y="547759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7" name="Flowchart: Magnetic Disk 6"/>
          <p:cNvSpPr/>
          <p:nvPr/>
        </p:nvSpPr>
        <p:spPr>
          <a:xfrm>
            <a:off x="548999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8" name="Flowchart: Magnetic Disk 7"/>
          <p:cNvSpPr/>
          <p:nvPr/>
        </p:nvSpPr>
        <p:spPr>
          <a:xfrm>
            <a:off x="776753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9" name="Flowchart: Direct Access Storage 8"/>
          <p:cNvSpPr/>
          <p:nvPr/>
        </p:nvSpPr>
        <p:spPr>
          <a:xfrm>
            <a:off x="1846350" y="5604607"/>
            <a:ext cx="1135117" cy="454021"/>
          </a:xfrm>
          <a:prstGeom prst="flowChartMagneticDrum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Magnetic Disk 9"/>
          <p:cNvSpPr/>
          <p:nvPr/>
        </p:nvSpPr>
        <p:spPr>
          <a:xfrm>
            <a:off x="784789" y="5556629"/>
            <a:ext cx="740979" cy="576998"/>
          </a:xfrm>
          <a:prstGeom prst="flowChartMagneticDisk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4997319" y="416858"/>
            <a:ext cx="2106708" cy="941294"/>
            <a:chOff x="4997319" y="2111188"/>
            <a:chExt cx="2106708" cy="941294"/>
          </a:xfrm>
        </p:grpSpPr>
        <p:sp>
          <p:nvSpPr>
            <p:cNvPr id="12" name="Rounded Rectangle 11"/>
            <p:cNvSpPr/>
            <p:nvPr/>
          </p:nvSpPr>
          <p:spPr>
            <a:xfrm>
              <a:off x="4997319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92538" y="2304021"/>
              <a:ext cx="1716269" cy="64516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Interface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4981769" y="4152484"/>
            <a:ext cx="2106708" cy="941294"/>
            <a:chOff x="4997319" y="3132665"/>
            <a:chExt cx="2106708" cy="941294"/>
          </a:xfrm>
        </p:grpSpPr>
        <p:sp>
          <p:nvSpPr>
            <p:cNvPr id="15" name="Rounded Rectangle 14"/>
            <p:cNvSpPr/>
            <p:nvPr/>
          </p:nvSpPr>
          <p:spPr>
            <a:xfrm>
              <a:off x="4997319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19253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Account-Service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9832319" y="3132665"/>
            <a:ext cx="2106708" cy="941294"/>
            <a:chOff x="7274860" y="3132665"/>
            <a:chExt cx="2106708" cy="941294"/>
          </a:xfrm>
        </p:grpSpPr>
        <p:sp>
          <p:nvSpPr>
            <p:cNvPr id="18" name="Rounded Rectangle 17"/>
            <p:cNvSpPr/>
            <p:nvPr/>
          </p:nvSpPr>
          <p:spPr>
            <a:xfrm>
              <a:off x="7274860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007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Auth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Rectangle 19"/>
          <p:cNvSpPr/>
          <p:nvPr/>
        </p:nvSpPr>
        <p:spPr>
          <a:xfrm>
            <a:off x="7470078" y="2304021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Mgmt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274857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101924" y="2111188"/>
            <a:ext cx="2106708" cy="941294"/>
            <a:chOff x="2719778" y="2111188"/>
            <a:chExt cx="2106708" cy="941294"/>
          </a:xfrm>
        </p:grpSpPr>
        <p:sp>
          <p:nvSpPr>
            <p:cNvPr id="23" name="Rounded Rectangle 22"/>
            <p:cNvSpPr/>
            <p:nvPr/>
          </p:nvSpPr>
          <p:spPr>
            <a:xfrm>
              <a:off x="2719778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981467" y="2259251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File-Service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2719778" y="3132665"/>
            <a:ext cx="2106708" cy="941294"/>
            <a:chOff x="2719778" y="3132665"/>
            <a:chExt cx="2106708" cy="941294"/>
          </a:xfrm>
        </p:grpSpPr>
        <p:sp>
          <p:nvSpPr>
            <p:cNvPr id="26" name="Rounded Rectangle 25"/>
            <p:cNvSpPr/>
            <p:nvPr/>
          </p:nvSpPr>
          <p:spPr>
            <a:xfrm>
              <a:off x="2719778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981466" y="3286572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Orders-Service</a:t>
              </a:r>
            </a:p>
          </p:txBody>
        </p:sp>
      </p:grpSp>
      <p:sp>
        <p:nvSpPr>
          <p:cNvPr id="28" name="Flowchart: Magnetic Disk 27"/>
          <p:cNvSpPr/>
          <p:nvPr/>
        </p:nvSpPr>
        <p:spPr>
          <a:xfrm>
            <a:off x="10325001" y="5425569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1360554" y="4136424"/>
            <a:ext cx="2106708" cy="941294"/>
            <a:chOff x="2719778" y="4154142"/>
            <a:chExt cx="2106708" cy="941294"/>
          </a:xfrm>
        </p:grpSpPr>
        <p:sp>
          <p:nvSpPr>
            <p:cNvPr id="30" name="Rounded Rectangle 29"/>
            <p:cNvSpPr/>
            <p:nvPr/>
          </p:nvSpPr>
          <p:spPr>
            <a:xfrm>
              <a:off x="2719778" y="4154142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968019" y="4313893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Notofication</a:t>
              </a:r>
              <a:r>
                <a:rPr lang="en-US" dirty="0">
                  <a:solidFill>
                    <a:schemeClr val="tx1"/>
                  </a:solidFill>
                </a:rPr>
                <a:t>-Service</a:t>
              </a:r>
            </a:p>
          </p:txBody>
        </p:sp>
      </p:grpSp>
      <p:sp>
        <p:nvSpPr>
          <p:cNvPr id="32" name="Rectangle 31"/>
          <p:cNvSpPr/>
          <p:nvPr/>
        </p:nvSpPr>
        <p:spPr>
          <a:xfrm>
            <a:off x="7470078" y="4318817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Payment-Service</a:t>
            </a:r>
          </a:p>
        </p:txBody>
      </p:sp>
      <p:cxnSp>
        <p:nvCxnSpPr>
          <p:cNvPr id="36" name="Straight Arrow Connector 35"/>
          <p:cNvCxnSpPr>
            <a:stCxn id="12" idx="2"/>
            <a:endCxn id="23" idx="0"/>
          </p:cNvCxnSpPr>
          <p:nvPr/>
        </p:nvCxnSpPr>
        <p:spPr>
          <a:xfrm flipH="1">
            <a:off x="1155278" y="1358152"/>
            <a:ext cx="4895395" cy="753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12" idx="2"/>
            <a:endCxn id="5" idx="0"/>
          </p:cNvCxnSpPr>
          <p:nvPr/>
        </p:nvCxnSpPr>
        <p:spPr>
          <a:xfrm>
            <a:off x="6050673" y="1358152"/>
            <a:ext cx="2277541" cy="753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12" idx="2"/>
            <a:endCxn id="26" idx="0"/>
          </p:cNvCxnSpPr>
          <p:nvPr/>
        </p:nvCxnSpPr>
        <p:spPr>
          <a:xfrm flipH="1">
            <a:off x="3773132" y="1358152"/>
            <a:ext cx="2277541" cy="177451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2" idx="2"/>
            <a:endCxn id="15" idx="0"/>
          </p:cNvCxnSpPr>
          <p:nvPr/>
        </p:nvCxnSpPr>
        <p:spPr>
          <a:xfrm flipH="1">
            <a:off x="6035123" y="1358152"/>
            <a:ext cx="15550" cy="2794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12" idx="2"/>
            <a:endCxn id="21" idx="0"/>
          </p:cNvCxnSpPr>
          <p:nvPr/>
        </p:nvCxnSpPr>
        <p:spPr>
          <a:xfrm>
            <a:off x="6050673" y="1358152"/>
            <a:ext cx="2277538" cy="2794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 rot="21318744">
            <a:off x="2571078" y="1552384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50" name="Straight Arrow Connector 49"/>
          <p:cNvCxnSpPr>
            <a:stCxn id="23" idx="2"/>
            <a:endCxn id="10" idx="1"/>
          </p:cNvCxnSpPr>
          <p:nvPr/>
        </p:nvCxnSpPr>
        <p:spPr>
          <a:xfrm>
            <a:off x="1155278" y="3052482"/>
            <a:ext cx="1" cy="2504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>
            <a:stCxn id="30" idx="2"/>
            <a:endCxn id="9" idx="0"/>
          </p:cNvCxnSpPr>
          <p:nvPr/>
        </p:nvCxnSpPr>
        <p:spPr>
          <a:xfrm>
            <a:off x="2413908" y="5077718"/>
            <a:ext cx="1" cy="5268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 rot="21318744">
            <a:off x="4036680" y="2300355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54" name="TextBox 53"/>
          <p:cNvSpPr txBox="1"/>
          <p:nvPr/>
        </p:nvSpPr>
        <p:spPr>
          <a:xfrm rot="21318744">
            <a:off x="5556339" y="2457327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sp>
        <p:nvSpPr>
          <p:cNvPr id="55" name="TextBox 54"/>
          <p:cNvSpPr txBox="1"/>
          <p:nvPr/>
        </p:nvSpPr>
        <p:spPr>
          <a:xfrm rot="21318744">
            <a:off x="6360930" y="210622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56" name="TextBox 55"/>
          <p:cNvSpPr txBox="1"/>
          <p:nvPr/>
        </p:nvSpPr>
        <p:spPr>
          <a:xfrm rot="21318744">
            <a:off x="6960194" y="1449143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58" name="Straight Arrow Connector 57"/>
          <p:cNvCxnSpPr>
            <a:stCxn id="26" idx="3"/>
            <a:endCxn id="18" idx="1"/>
          </p:cNvCxnSpPr>
          <p:nvPr/>
        </p:nvCxnSpPr>
        <p:spPr>
          <a:xfrm>
            <a:off x="4826486" y="3603312"/>
            <a:ext cx="50058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stCxn id="26" idx="1"/>
          </p:cNvCxnSpPr>
          <p:nvPr/>
        </p:nvCxnSpPr>
        <p:spPr>
          <a:xfrm flipH="1">
            <a:off x="2659387" y="3603312"/>
            <a:ext cx="60391" cy="20012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>
            <a:stCxn id="26" idx="2"/>
            <a:endCxn id="6" idx="1"/>
          </p:cNvCxnSpPr>
          <p:nvPr/>
        </p:nvCxnSpPr>
        <p:spPr>
          <a:xfrm flipH="1">
            <a:off x="3715493" y="4073959"/>
            <a:ext cx="57639" cy="14036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>
            <a:stCxn id="4" idx="2"/>
            <a:endCxn id="7" idx="1"/>
          </p:cNvCxnSpPr>
          <p:nvPr/>
        </p:nvCxnSpPr>
        <p:spPr>
          <a:xfrm flipH="1">
            <a:off x="6050672" y="5093778"/>
            <a:ext cx="1" cy="33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21" idx="2"/>
            <a:endCxn id="8" idx="1"/>
          </p:cNvCxnSpPr>
          <p:nvPr/>
        </p:nvCxnSpPr>
        <p:spPr>
          <a:xfrm>
            <a:off x="8328211" y="5093778"/>
            <a:ext cx="1" cy="33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18" idx="2"/>
            <a:endCxn id="28" idx="1"/>
          </p:cNvCxnSpPr>
          <p:nvPr/>
        </p:nvCxnSpPr>
        <p:spPr>
          <a:xfrm>
            <a:off x="10885673" y="4073959"/>
            <a:ext cx="1" cy="1351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5085186" y="333838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78" name="Straight Arrow Connector 77"/>
          <p:cNvCxnSpPr>
            <a:stCxn id="5" idx="2"/>
            <a:endCxn id="15" idx="0"/>
          </p:cNvCxnSpPr>
          <p:nvPr/>
        </p:nvCxnSpPr>
        <p:spPr>
          <a:xfrm flipH="1">
            <a:off x="6035123" y="3052482"/>
            <a:ext cx="2293091" cy="1100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>
            <a:stCxn id="5" idx="2"/>
            <a:endCxn id="21" idx="0"/>
          </p:cNvCxnSpPr>
          <p:nvPr/>
        </p:nvCxnSpPr>
        <p:spPr>
          <a:xfrm flipH="1">
            <a:off x="8328211" y="3052482"/>
            <a:ext cx="3" cy="1100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ontent Placeholder 2"/>
          <p:cNvSpPr>
            <a:spLocks noGrp="1"/>
          </p:cNvSpPr>
          <p:nvPr>
            <p:ph idx="1"/>
          </p:nvPr>
        </p:nvSpPr>
        <p:spPr>
          <a:xfrm>
            <a:off x="487360" y="185927"/>
            <a:ext cx="4326694" cy="12531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4000" dirty="0"/>
              <a:t>Split the application into smaller chunks</a:t>
            </a:r>
          </a:p>
        </p:txBody>
      </p:sp>
    </p:spTree>
    <p:extLst>
      <p:ext uri="{BB962C8B-B14F-4D97-AF65-F5344CB8AC3E}">
        <p14:creationId xmlns:p14="http://schemas.microsoft.com/office/powerpoint/2010/main" val="2734884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997319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7274860" y="2111188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Magnetic Disk 5"/>
          <p:cNvSpPr/>
          <p:nvPr/>
        </p:nvSpPr>
        <p:spPr>
          <a:xfrm>
            <a:off x="3154820" y="547759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7" name="Flowchart: Magnetic Disk 6"/>
          <p:cNvSpPr/>
          <p:nvPr/>
        </p:nvSpPr>
        <p:spPr>
          <a:xfrm>
            <a:off x="548999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8" name="Flowchart: Magnetic Disk 7"/>
          <p:cNvSpPr/>
          <p:nvPr/>
        </p:nvSpPr>
        <p:spPr>
          <a:xfrm>
            <a:off x="776753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9" name="Flowchart: Direct Access Storage 8"/>
          <p:cNvSpPr/>
          <p:nvPr/>
        </p:nvSpPr>
        <p:spPr>
          <a:xfrm>
            <a:off x="1846350" y="5604607"/>
            <a:ext cx="1135117" cy="454021"/>
          </a:xfrm>
          <a:prstGeom prst="flowChartMagneticDrum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Magnetic Disk 9"/>
          <p:cNvSpPr/>
          <p:nvPr/>
        </p:nvSpPr>
        <p:spPr>
          <a:xfrm>
            <a:off x="784789" y="5556629"/>
            <a:ext cx="740979" cy="576998"/>
          </a:xfrm>
          <a:prstGeom prst="flowChartMagneticDisk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4997319" y="416858"/>
            <a:ext cx="2106708" cy="941294"/>
            <a:chOff x="4997319" y="2111188"/>
            <a:chExt cx="2106708" cy="941294"/>
          </a:xfrm>
        </p:grpSpPr>
        <p:sp>
          <p:nvSpPr>
            <p:cNvPr id="12" name="Rounded Rectangle 11"/>
            <p:cNvSpPr/>
            <p:nvPr/>
          </p:nvSpPr>
          <p:spPr>
            <a:xfrm>
              <a:off x="4997319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92538" y="2304021"/>
              <a:ext cx="1716269" cy="64516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Interface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4981769" y="4152484"/>
            <a:ext cx="2106708" cy="941294"/>
            <a:chOff x="4997319" y="3132665"/>
            <a:chExt cx="2106708" cy="941294"/>
          </a:xfrm>
        </p:grpSpPr>
        <p:sp>
          <p:nvSpPr>
            <p:cNvPr id="15" name="Rounded Rectangle 14"/>
            <p:cNvSpPr/>
            <p:nvPr/>
          </p:nvSpPr>
          <p:spPr>
            <a:xfrm>
              <a:off x="4997319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19253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Account-Service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9832319" y="3132665"/>
            <a:ext cx="2106708" cy="941294"/>
            <a:chOff x="7274860" y="3132665"/>
            <a:chExt cx="2106708" cy="941294"/>
          </a:xfrm>
        </p:grpSpPr>
        <p:sp>
          <p:nvSpPr>
            <p:cNvPr id="18" name="Rounded Rectangle 17"/>
            <p:cNvSpPr/>
            <p:nvPr/>
          </p:nvSpPr>
          <p:spPr>
            <a:xfrm>
              <a:off x="7274860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007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Auth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Rectangle 19"/>
          <p:cNvSpPr/>
          <p:nvPr/>
        </p:nvSpPr>
        <p:spPr>
          <a:xfrm>
            <a:off x="7470078" y="2304021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Mgmt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274857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101924" y="2111188"/>
            <a:ext cx="2106708" cy="941294"/>
            <a:chOff x="2719778" y="2111188"/>
            <a:chExt cx="2106708" cy="941294"/>
          </a:xfrm>
        </p:grpSpPr>
        <p:sp>
          <p:nvSpPr>
            <p:cNvPr id="23" name="Rounded Rectangle 22"/>
            <p:cNvSpPr/>
            <p:nvPr/>
          </p:nvSpPr>
          <p:spPr>
            <a:xfrm>
              <a:off x="2719778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981467" y="2259251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File-Service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2719778" y="3213347"/>
            <a:ext cx="2106708" cy="941294"/>
            <a:chOff x="2719778" y="3132665"/>
            <a:chExt cx="2106708" cy="941294"/>
          </a:xfrm>
        </p:grpSpPr>
        <p:sp>
          <p:nvSpPr>
            <p:cNvPr id="26" name="Rounded Rectangle 25"/>
            <p:cNvSpPr/>
            <p:nvPr/>
          </p:nvSpPr>
          <p:spPr>
            <a:xfrm>
              <a:off x="2719778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981466" y="3286572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Orders-Service</a:t>
              </a:r>
            </a:p>
          </p:txBody>
        </p:sp>
      </p:grpSp>
      <p:sp>
        <p:nvSpPr>
          <p:cNvPr id="28" name="Flowchart: Magnetic Disk 27"/>
          <p:cNvSpPr/>
          <p:nvPr/>
        </p:nvSpPr>
        <p:spPr>
          <a:xfrm>
            <a:off x="10325001" y="5425569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1360554" y="4136424"/>
            <a:ext cx="2106708" cy="941294"/>
            <a:chOff x="2719778" y="4154142"/>
            <a:chExt cx="2106708" cy="941294"/>
          </a:xfrm>
        </p:grpSpPr>
        <p:sp>
          <p:nvSpPr>
            <p:cNvPr id="30" name="Rounded Rectangle 29"/>
            <p:cNvSpPr/>
            <p:nvPr/>
          </p:nvSpPr>
          <p:spPr>
            <a:xfrm>
              <a:off x="2719778" y="4154142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968019" y="4313893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Notofication</a:t>
              </a:r>
              <a:r>
                <a:rPr lang="en-US" dirty="0">
                  <a:solidFill>
                    <a:schemeClr val="tx1"/>
                  </a:solidFill>
                </a:rPr>
                <a:t>-Service</a:t>
              </a:r>
            </a:p>
          </p:txBody>
        </p:sp>
      </p:grpSp>
      <p:sp>
        <p:nvSpPr>
          <p:cNvPr id="32" name="Rectangle 31"/>
          <p:cNvSpPr/>
          <p:nvPr/>
        </p:nvSpPr>
        <p:spPr>
          <a:xfrm>
            <a:off x="7470078" y="4318817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Payment-Service</a:t>
            </a:r>
          </a:p>
        </p:txBody>
      </p:sp>
      <p:cxnSp>
        <p:nvCxnSpPr>
          <p:cNvPr id="33" name="Straight Arrow Connector 32"/>
          <p:cNvCxnSpPr>
            <a:stCxn id="12" idx="2"/>
            <a:endCxn id="23" idx="0"/>
          </p:cNvCxnSpPr>
          <p:nvPr/>
        </p:nvCxnSpPr>
        <p:spPr>
          <a:xfrm flipH="1">
            <a:off x="1155278" y="1358152"/>
            <a:ext cx="4895395" cy="753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5" idx="0"/>
          </p:cNvCxnSpPr>
          <p:nvPr/>
        </p:nvCxnSpPr>
        <p:spPr>
          <a:xfrm>
            <a:off x="6050673" y="1358152"/>
            <a:ext cx="2277541" cy="753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12" idx="2"/>
            <a:endCxn id="26" idx="0"/>
          </p:cNvCxnSpPr>
          <p:nvPr/>
        </p:nvCxnSpPr>
        <p:spPr>
          <a:xfrm flipH="1">
            <a:off x="3773132" y="1358152"/>
            <a:ext cx="2277541" cy="18551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2" idx="2"/>
            <a:endCxn id="15" idx="0"/>
          </p:cNvCxnSpPr>
          <p:nvPr/>
        </p:nvCxnSpPr>
        <p:spPr>
          <a:xfrm flipH="1">
            <a:off x="6035123" y="1358152"/>
            <a:ext cx="15550" cy="2794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2" idx="2"/>
            <a:endCxn id="21" idx="0"/>
          </p:cNvCxnSpPr>
          <p:nvPr/>
        </p:nvCxnSpPr>
        <p:spPr>
          <a:xfrm>
            <a:off x="6050673" y="1358152"/>
            <a:ext cx="2277538" cy="2794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 rot="21318744">
            <a:off x="2571078" y="1552384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39" name="Straight Arrow Connector 38"/>
          <p:cNvCxnSpPr>
            <a:stCxn id="23" idx="2"/>
            <a:endCxn id="10" idx="1"/>
          </p:cNvCxnSpPr>
          <p:nvPr/>
        </p:nvCxnSpPr>
        <p:spPr>
          <a:xfrm>
            <a:off x="1155278" y="3052482"/>
            <a:ext cx="1" cy="2504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2413908" y="5319764"/>
            <a:ext cx="1" cy="5268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 rot="21318744">
            <a:off x="4036680" y="2300355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42" name="TextBox 41"/>
          <p:cNvSpPr txBox="1"/>
          <p:nvPr/>
        </p:nvSpPr>
        <p:spPr>
          <a:xfrm rot="21318744">
            <a:off x="5556339" y="2457327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sp>
        <p:nvSpPr>
          <p:cNvPr id="43" name="TextBox 42"/>
          <p:cNvSpPr txBox="1"/>
          <p:nvPr/>
        </p:nvSpPr>
        <p:spPr>
          <a:xfrm rot="21318744">
            <a:off x="6360930" y="210622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 rot="21318744">
            <a:off x="6960194" y="1449143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45" name="Straight Arrow Connector 44"/>
          <p:cNvCxnSpPr>
            <a:stCxn id="26" idx="3"/>
            <a:endCxn id="18" idx="1"/>
          </p:cNvCxnSpPr>
          <p:nvPr/>
        </p:nvCxnSpPr>
        <p:spPr>
          <a:xfrm flipV="1">
            <a:off x="4826486" y="3603312"/>
            <a:ext cx="5005833" cy="806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>
            <a:stCxn id="26" idx="1"/>
          </p:cNvCxnSpPr>
          <p:nvPr/>
        </p:nvCxnSpPr>
        <p:spPr>
          <a:xfrm flipH="1">
            <a:off x="2659387" y="3683994"/>
            <a:ext cx="60391" cy="20012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26" idx="2"/>
            <a:endCxn id="6" idx="1"/>
          </p:cNvCxnSpPr>
          <p:nvPr/>
        </p:nvCxnSpPr>
        <p:spPr>
          <a:xfrm flipH="1">
            <a:off x="3715493" y="4154641"/>
            <a:ext cx="57639" cy="1322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 flipH="1">
            <a:off x="6050672" y="5335824"/>
            <a:ext cx="1" cy="33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>
            <a:off x="8328211" y="5335824"/>
            <a:ext cx="1" cy="33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18" idx="2"/>
            <a:endCxn id="28" idx="1"/>
          </p:cNvCxnSpPr>
          <p:nvPr/>
        </p:nvCxnSpPr>
        <p:spPr>
          <a:xfrm>
            <a:off x="10885673" y="4073959"/>
            <a:ext cx="1" cy="1351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085186" y="333838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52" name="Straight Arrow Connector 51"/>
          <p:cNvCxnSpPr>
            <a:stCxn id="5" idx="2"/>
            <a:endCxn id="15" idx="0"/>
          </p:cNvCxnSpPr>
          <p:nvPr/>
        </p:nvCxnSpPr>
        <p:spPr>
          <a:xfrm flipH="1">
            <a:off x="6035123" y="3052482"/>
            <a:ext cx="2293091" cy="1100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5" idx="2"/>
            <a:endCxn id="21" idx="0"/>
          </p:cNvCxnSpPr>
          <p:nvPr/>
        </p:nvCxnSpPr>
        <p:spPr>
          <a:xfrm flipH="1">
            <a:off x="8328211" y="3052482"/>
            <a:ext cx="3" cy="1100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Content Placeholder 2"/>
          <p:cNvSpPr txBox="1">
            <a:spLocks/>
          </p:cNvSpPr>
          <p:nvPr/>
        </p:nvSpPr>
        <p:spPr>
          <a:xfrm>
            <a:off x="324877" y="236661"/>
            <a:ext cx="4310620" cy="12702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/>
              <a:t>Host-centric Infrastructure</a:t>
            </a:r>
            <a:endParaRPr lang="en-US" sz="4000" dirty="0"/>
          </a:p>
        </p:txBody>
      </p:sp>
      <p:sp>
        <p:nvSpPr>
          <p:cNvPr id="57" name="Rectangle 56"/>
          <p:cNvSpPr/>
          <p:nvPr/>
        </p:nvSpPr>
        <p:spPr>
          <a:xfrm>
            <a:off x="229849" y="6026761"/>
            <a:ext cx="11872210" cy="55392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Host Operating System Kernel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9849" y="5124314"/>
            <a:ext cx="11872210" cy="92959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Binaries/Libraries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35307" y="5145416"/>
            <a:ext cx="1191717" cy="434714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Ruby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25913" y="5154633"/>
            <a:ext cx="986894" cy="369343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24917" y="5280457"/>
            <a:ext cx="986894" cy="369343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Java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516951" y="5124314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libicu</a:t>
            </a:r>
            <a:endParaRPr lang="en-US" dirty="0"/>
          </a:p>
        </p:txBody>
      </p:sp>
      <p:sp>
        <p:nvSpPr>
          <p:cNvPr id="63" name="Rectangle 62"/>
          <p:cNvSpPr/>
          <p:nvPr/>
        </p:nvSpPr>
        <p:spPr>
          <a:xfrm>
            <a:off x="3430895" y="5653673"/>
            <a:ext cx="1018694" cy="37345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libpq</a:t>
            </a:r>
            <a:endParaRPr lang="en-US" dirty="0"/>
          </a:p>
        </p:txBody>
      </p:sp>
      <p:sp>
        <p:nvSpPr>
          <p:cNvPr id="64" name="Rectangle 63"/>
          <p:cNvSpPr/>
          <p:nvPr/>
        </p:nvSpPr>
        <p:spPr>
          <a:xfrm>
            <a:off x="7222630" y="5707534"/>
            <a:ext cx="1471106" cy="37345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Mysql</a:t>
            </a:r>
            <a:r>
              <a:rPr lang="en-US" dirty="0"/>
              <a:t>-Client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354944" y="5609438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libxml</a:t>
            </a:r>
            <a:endParaRPr lang="en-US" dirty="0"/>
          </a:p>
        </p:txBody>
      </p:sp>
      <p:sp>
        <p:nvSpPr>
          <p:cNvPr id="66" name="Rectangle 65"/>
          <p:cNvSpPr/>
          <p:nvPr/>
        </p:nvSpPr>
        <p:spPr>
          <a:xfrm>
            <a:off x="1057511" y="5639388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libssl</a:t>
            </a:r>
            <a:endParaRPr lang="en-US" dirty="0"/>
          </a:p>
        </p:txBody>
      </p:sp>
      <p:sp>
        <p:nvSpPr>
          <p:cNvPr id="67" name="Rectangle 66"/>
          <p:cNvSpPr/>
          <p:nvPr/>
        </p:nvSpPr>
        <p:spPr>
          <a:xfrm>
            <a:off x="522689" y="5161465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libyaml</a:t>
            </a:r>
            <a:endParaRPr lang="en-US" dirty="0"/>
          </a:p>
        </p:txBody>
      </p:sp>
      <p:sp>
        <p:nvSpPr>
          <p:cNvPr id="68" name="Rectangle 67"/>
          <p:cNvSpPr/>
          <p:nvPr/>
        </p:nvSpPr>
        <p:spPr>
          <a:xfrm>
            <a:off x="1515886" y="5188237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libxslt</a:t>
            </a:r>
            <a:endParaRPr lang="en-US" dirty="0"/>
          </a:p>
        </p:txBody>
      </p:sp>
      <p:sp>
        <p:nvSpPr>
          <p:cNvPr id="69" name="Rectangle 68"/>
          <p:cNvSpPr/>
          <p:nvPr/>
        </p:nvSpPr>
        <p:spPr>
          <a:xfrm>
            <a:off x="8525415" y="5152492"/>
            <a:ext cx="986894" cy="369343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npm</a:t>
            </a:r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8736193" y="5653673"/>
            <a:ext cx="1471106" cy="37345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Redis</a:t>
            </a:r>
            <a:r>
              <a:rPr lang="en-US" dirty="0"/>
              <a:t>-tools</a:t>
            </a:r>
          </a:p>
        </p:txBody>
      </p:sp>
      <p:sp>
        <p:nvSpPr>
          <p:cNvPr id="80" name="Content Placeholder 2"/>
          <p:cNvSpPr txBox="1">
            <a:spLocks/>
          </p:cNvSpPr>
          <p:nvPr/>
        </p:nvSpPr>
        <p:spPr>
          <a:xfrm>
            <a:off x="1751203" y="2222962"/>
            <a:ext cx="7435144" cy="297225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 dirty="0"/>
              <a:t>=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heavyweight, no isolation, non-portable, Relies on OS package manager</a:t>
            </a:r>
          </a:p>
        </p:txBody>
      </p:sp>
    </p:spTree>
    <p:extLst>
      <p:ext uri="{BB962C8B-B14F-4D97-AF65-F5344CB8AC3E}">
        <p14:creationId xmlns:p14="http://schemas.microsoft.com/office/powerpoint/2010/main" val="3462253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8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9849" y="5853936"/>
            <a:ext cx="11872210" cy="726745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Host Operating System Kernel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229849" y="5136823"/>
            <a:ext cx="11872210" cy="70212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Binaries/Libraries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9849" y="4572000"/>
            <a:ext cx="11872210" cy="564823"/>
          </a:xfrm>
          <a:prstGeom prst="rect">
            <a:avLst/>
          </a:prstGeom>
          <a:solidFill>
            <a:srgbClr val="FFF26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Docker</a:t>
            </a:r>
            <a:r>
              <a:rPr lang="en-US" dirty="0">
                <a:solidFill>
                  <a:schemeClr val="tx1"/>
                </a:solidFill>
              </a:rPr>
              <a:t> Engine   or  (</a:t>
            </a:r>
            <a:r>
              <a:rPr lang="en-US" dirty="0" err="1">
                <a:solidFill>
                  <a:schemeClr val="tx1"/>
                </a:solidFill>
              </a:rPr>
              <a:t>rkt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324877" y="1695278"/>
            <a:ext cx="1800757" cy="1509146"/>
            <a:chOff x="2309382" y="2879564"/>
            <a:chExt cx="1800757" cy="1509146"/>
          </a:xfrm>
        </p:grpSpPr>
        <p:sp>
          <p:nvSpPr>
            <p:cNvPr id="58" name="Cube 57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59" name="Cube 58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2447306" y="2426235"/>
            <a:ext cx="1800757" cy="1509146"/>
            <a:chOff x="2309382" y="2879564"/>
            <a:chExt cx="1800757" cy="1509146"/>
          </a:xfrm>
        </p:grpSpPr>
        <p:sp>
          <p:nvSpPr>
            <p:cNvPr id="74" name="Cube 73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75" name="Cube 74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/>
          <p:cNvGrpSpPr/>
          <p:nvPr/>
        </p:nvGrpSpPr>
        <p:grpSpPr>
          <a:xfrm>
            <a:off x="4702511" y="2927763"/>
            <a:ext cx="1800757" cy="1509146"/>
            <a:chOff x="2309382" y="2879564"/>
            <a:chExt cx="1800757" cy="1509146"/>
          </a:xfrm>
        </p:grpSpPr>
        <p:sp>
          <p:nvSpPr>
            <p:cNvPr id="71" name="Cube 70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72" name="Cube 71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/>
          <p:cNvGrpSpPr/>
          <p:nvPr/>
        </p:nvGrpSpPr>
        <p:grpSpPr>
          <a:xfrm>
            <a:off x="5341065" y="176817"/>
            <a:ext cx="1800757" cy="1509146"/>
            <a:chOff x="2309382" y="2879564"/>
            <a:chExt cx="1800757" cy="1509146"/>
          </a:xfrm>
        </p:grpSpPr>
        <p:sp>
          <p:nvSpPr>
            <p:cNvPr id="89" name="Cube 88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91" name="Cube 90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/>
          <p:cNvGrpSpPr/>
          <p:nvPr/>
        </p:nvGrpSpPr>
        <p:grpSpPr>
          <a:xfrm>
            <a:off x="7050068" y="2965587"/>
            <a:ext cx="1800757" cy="1509146"/>
            <a:chOff x="2309382" y="2879564"/>
            <a:chExt cx="1800757" cy="1509146"/>
          </a:xfrm>
        </p:grpSpPr>
        <p:sp>
          <p:nvSpPr>
            <p:cNvPr id="86" name="Cube 85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87" name="Cube 86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9820786" y="2181864"/>
            <a:ext cx="1800757" cy="1509146"/>
            <a:chOff x="2309382" y="2879564"/>
            <a:chExt cx="1800757" cy="1509146"/>
          </a:xfrm>
        </p:grpSpPr>
        <p:sp>
          <p:nvSpPr>
            <p:cNvPr id="82" name="Cube 81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83" name="Cube 82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/>
          <p:cNvGrpSpPr/>
          <p:nvPr/>
        </p:nvGrpSpPr>
        <p:grpSpPr>
          <a:xfrm>
            <a:off x="8709389" y="821073"/>
            <a:ext cx="1800757" cy="1509146"/>
            <a:chOff x="2309382" y="2879564"/>
            <a:chExt cx="1800757" cy="1509146"/>
          </a:xfrm>
        </p:grpSpPr>
        <p:sp>
          <p:nvSpPr>
            <p:cNvPr id="68" name="Cube 67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69" name="Cube 68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7" name="Content Placeholder 2"/>
          <p:cNvSpPr>
            <a:spLocks noGrp="1"/>
          </p:cNvSpPr>
          <p:nvPr>
            <p:ph idx="1"/>
          </p:nvPr>
        </p:nvSpPr>
        <p:spPr>
          <a:xfrm>
            <a:off x="324877" y="236661"/>
            <a:ext cx="4310620" cy="127023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4000" dirty="0"/>
              <a:t>Container-centric Infrastructure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609" y="4584363"/>
            <a:ext cx="1752051" cy="51755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420" y="4639806"/>
            <a:ext cx="1405454" cy="421636"/>
          </a:xfrm>
          <a:prstGeom prst="rect">
            <a:avLst/>
          </a:prstGeom>
        </p:spPr>
      </p:pic>
      <p:cxnSp>
        <p:nvCxnSpPr>
          <p:cNvPr id="10" name="Straight Connector 9"/>
          <p:cNvCxnSpPr/>
          <p:nvPr/>
        </p:nvCxnSpPr>
        <p:spPr>
          <a:xfrm flipH="1">
            <a:off x="2660203" y="4639806"/>
            <a:ext cx="282314" cy="42163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5438244" y="592245"/>
            <a:ext cx="1411408" cy="6366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Interface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7026" y="2049432"/>
            <a:ext cx="1266667" cy="6254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File-Service</a:t>
            </a:r>
          </a:p>
        </p:txBody>
      </p:sp>
      <p:cxnSp>
        <p:nvCxnSpPr>
          <p:cNvPr id="62" name="Straight Arrow Connector 61"/>
          <p:cNvCxnSpPr>
            <a:stCxn id="89" idx="3"/>
            <a:endCxn id="59" idx="5"/>
          </p:cNvCxnSpPr>
          <p:nvPr/>
        </p:nvCxnSpPr>
        <p:spPr>
          <a:xfrm flipH="1">
            <a:off x="2125634" y="1685963"/>
            <a:ext cx="3978351" cy="4071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 rot="21318744">
            <a:off x="2571078" y="1552384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34300" y="2761474"/>
            <a:ext cx="1298644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Orders-Service</a:t>
            </a:r>
          </a:p>
        </p:txBody>
      </p:sp>
      <p:cxnSp>
        <p:nvCxnSpPr>
          <p:cNvPr id="66" name="Straight Arrow Connector 65"/>
          <p:cNvCxnSpPr>
            <a:stCxn id="89" idx="3"/>
            <a:endCxn id="75" idx="0"/>
          </p:cNvCxnSpPr>
          <p:nvPr/>
        </p:nvCxnSpPr>
        <p:spPr>
          <a:xfrm flipH="1">
            <a:off x="3480303" y="1685963"/>
            <a:ext cx="2623682" cy="7402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 rot="21318744">
            <a:off x="3793289" y="1950562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79" name="Rectangle 78"/>
          <p:cNvSpPr/>
          <p:nvPr/>
        </p:nvSpPr>
        <p:spPr>
          <a:xfrm>
            <a:off x="4925866" y="3258102"/>
            <a:ext cx="1252446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Account-Service</a:t>
            </a:r>
          </a:p>
        </p:txBody>
      </p:sp>
      <p:cxnSp>
        <p:nvCxnSpPr>
          <p:cNvPr id="92" name="Straight Arrow Connector 91"/>
          <p:cNvCxnSpPr>
            <a:stCxn id="89" idx="3"/>
            <a:endCxn id="72" idx="0"/>
          </p:cNvCxnSpPr>
          <p:nvPr/>
        </p:nvCxnSpPr>
        <p:spPr>
          <a:xfrm flipH="1">
            <a:off x="5735508" y="1685963"/>
            <a:ext cx="368477" cy="12418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 rot="21318744">
            <a:off x="5479282" y="2187259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141822" y="3300039"/>
            <a:ext cx="1394893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Payment-Service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33073" y="1187965"/>
            <a:ext cx="1200043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Mgmt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9905274" y="2505992"/>
            <a:ext cx="1364331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Auth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98" name="Straight Arrow Connector 97"/>
          <p:cNvCxnSpPr>
            <a:stCxn id="89" idx="3"/>
            <a:endCxn id="68" idx="2"/>
          </p:cNvCxnSpPr>
          <p:nvPr/>
        </p:nvCxnSpPr>
        <p:spPr>
          <a:xfrm>
            <a:off x="6103985" y="1685963"/>
            <a:ext cx="2608531" cy="4147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 rot="21318744">
            <a:off x="7217322" y="159820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102" name="Straight Arrow Connector 101"/>
          <p:cNvCxnSpPr>
            <a:stCxn id="89" idx="3"/>
            <a:endCxn id="87" idx="0"/>
          </p:cNvCxnSpPr>
          <p:nvPr/>
        </p:nvCxnSpPr>
        <p:spPr>
          <a:xfrm>
            <a:off x="6103985" y="1685963"/>
            <a:ext cx="1979080" cy="12796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 rot="21318744">
            <a:off x="6464591" y="2089840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cxnSp>
        <p:nvCxnSpPr>
          <p:cNvPr id="104" name="Straight Arrow Connector 103"/>
          <p:cNvCxnSpPr>
            <a:stCxn id="68" idx="3"/>
            <a:endCxn id="72" idx="0"/>
          </p:cNvCxnSpPr>
          <p:nvPr/>
        </p:nvCxnSpPr>
        <p:spPr>
          <a:xfrm flipH="1">
            <a:off x="5735508" y="2330219"/>
            <a:ext cx="3736801" cy="5975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/>
          <p:cNvCxnSpPr>
            <a:stCxn id="68" idx="3"/>
            <a:endCxn id="87" idx="0"/>
          </p:cNvCxnSpPr>
          <p:nvPr/>
        </p:nvCxnSpPr>
        <p:spPr>
          <a:xfrm flipH="1">
            <a:off x="8083065" y="2330219"/>
            <a:ext cx="1389244" cy="6353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/>
          <p:cNvCxnSpPr>
            <a:stCxn id="75" idx="5"/>
            <a:endCxn id="83" idx="2"/>
          </p:cNvCxnSpPr>
          <p:nvPr/>
        </p:nvCxnSpPr>
        <p:spPr>
          <a:xfrm>
            <a:off x="4248063" y="2824091"/>
            <a:ext cx="5572723" cy="208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ontent Placeholder 2"/>
          <p:cNvSpPr txBox="1">
            <a:spLocks/>
          </p:cNvSpPr>
          <p:nvPr/>
        </p:nvSpPr>
        <p:spPr>
          <a:xfrm>
            <a:off x="1622138" y="2067813"/>
            <a:ext cx="8595216" cy="241763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 dirty="0"/>
              <a:t>=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Small and fast, portable, Uses OS-level virtualization</a:t>
            </a:r>
          </a:p>
        </p:txBody>
      </p:sp>
    </p:spTree>
    <p:extLst>
      <p:ext uri="{BB962C8B-B14F-4D97-AF65-F5344CB8AC3E}">
        <p14:creationId xmlns:p14="http://schemas.microsoft.com/office/powerpoint/2010/main" val="4208317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wipe/>
      </p:transition>
    </mc:Choice>
    <mc:Fallback xmlns="">
      <p:transition spd="slow">
        <p:wip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Containers Benefits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Loosely coupled, distributed, elastic, liberated micro-services</a:t>
            </a:r>
          </a:p>
          <a:p>
            <a:r>
              <a:rPr lang="en-US" dirty="0"/>
              <a:t>Application-centric management</a:t>
            </a:r>
          </a:p>
          <a:p>
            <a:r>
              <a:rPr lang="en-US" dirty="0"/>
              <a:t>Environmental consistency across development, testing, and production</a:t>
            </a:r>
          </a:p>
          <a:p>
            <a:r>
              <a:rPr lang="en-US" dirty="0"/>
              <a:t>Continuous development, integration, and deployment</a:t>
            </a:r>
          </a:p>
          <a:p>
            <a:r>
              <a:rPr lang="en-US" dirty="0"/>
              <a:t>Resource isolation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870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Monolithic – Service Oriented - </a:t>
            </a:r>
            <a:r>
              <a:rPr lang="en-US" dirty="0" err="1"/>
              <a:t>Microservices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704" y="1690688"/>
            <a:ext cx="10888633" cy="4740519"/>
          </a:xfrm>
        </p:spPr>
      </p:pic>
    </p:spTree>
    <p:extLst>
      <p:ext uri="{BB962C8B-B14F-4D97-AF65-F5344CB8AC3E}">
        <p14:creationId xmlns:p14="http://schemas.microsoft.com/office/powerpoint/2010/main" val="2488530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587994"/>
            <a:ext cx="5171090" cy="9596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2867847"/>
            <a:ext cx="5171090" cy="9026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1542284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A </a:t>
            </a:r>
            <a:r>
              <a:rPr lang="en-US" sz="2800" dirty="0" err="1">
                <a:solidFill>
                  <a:schemeClr val="tx1"/>
                </a:solidFill>
              </a:rPr>
              <a:t>microservice</a:t>
            </a:r>
            <a:r>
              <a:rPr lang="en-US" sz="2800" dirty="0">
                <a:solidFill>
                  <a:schemeClr val="tx1"/>
                </a:solidFill>
              </a:rPr>
              <a:t> is an </a:t>
            </a:r>
            <a:r>
              <a:rPr lang="en-US" sz="2800" b="1" dirty="0">
                <a:solidFill>
                  <a:schemeClr val="tx1"/>
                </a:solidFill>
              </a:rPr>
              <a:t>isolated</a:t>
            </a:r>
            <a:r>
              <a:rPr lang="en-US" sz="2800" dirty="0">
                <a:solidFill>
                  <a:schemeClr val="tx1"/>
                </a:solidFill>
              </a:rPr>
              <a:t>, </a:t>
            </a:r>
            <a:r>
              <a:rPr lang="en-US" sz="2800" b="1" dirty="0">
                <a:solidFill>
                  <a:schemeClr val="tx1"/>
                </a:solidFill>
              </a:rPr>
              <a:t>loosely-coupled</a:t>
            </a:r>
            <a:r>
              <a:rPr lang="en-US" sz="2800" dirty="0">
                <a:solidFill>
                  <a:schemeClr val="tx1"/>
                </a:solidFill>
              </a:rPr>
              <a:t> unit of development that works on a </a:t>
            </a:r>
            <a:r>
              <a:rPr lang="en-US" sz="2800" b="1" dirty="0">
                <a:solidFill>
                  <a:schemeClr val="tx1"/>
                </a:solidFill>
              </a:rPr>
              <a:t>single concern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200" y="2867847"/>
            <a:ext cx="5171090" cy="95791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4161875"/>
            <a:ext cx="5171090" cy="10407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</p:spTree>
    <p:extLst>
      <p:ext uri="{BB962C8B-B14F-4D97-AF65-F5344CB8AC3E}">
        <p14:creationId xmlns:p14="http://schemas.microsoft.com/office/powerpoint/2010/main" val="76915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49705"/>
            <a:ext cx="10515600" cy="8304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First, </a:t>
            </a:r>
            <a:r>
              <a:rPr lang="en-US" sz="3600" dirty="0" err="1"/>
              <a:t>Microservices</a:t>
            </a:r>
            <a:r>
              <a:rPr lang="en-US" sz="3600" dirty="0"/>
              <a:t> Challenges…</a:t>
            </a:r>
          </a:p>
        </p:txBody>
      </p:sp>
      <p:sp>
        <p:nvSpPr>
          <p:cNvPr id="7" name="Cube 6"/>
          <p:cNvSpPr/>
          <p:nvPr/>
        </p:nvSpPr>
        <p:spPr>
          <a:xfrm>
            <a:off x="4724798" y="3730559"/>
            <a:ext cx="1079292" cy="1019331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be 7"/>
          <p:cNvSpPr/>
          <p:nvPr/>
        </p:nvSpPr>
        <p:spPr>
          <a:xfrm>
            <a:off x="5346889" y="2400923"/>
            <a:ext cx="1079292" cy="1019331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be 8"/>
          <p:cNvSpPr/>
          <p:nvPr/>
        </p:nvSpPr>
        <p:spPr>
          <a:xfrm>
            <a:off x="6175408" y="3495206"/>
            <a:ext cx="1079292" cy="1019331"/>
          </a:xfrm>
          <a:prstGeom prst="cub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be 9"/>
          <p:cNvSpPr/>
          <p:nvPr/>
        </p:nvSpPr>
        <p:spPr>
          <a:xfrm>
            <a:off x="6956146" y="2098623"/>
            <a:ext cx="1079292" cy="1019331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ube 10"/>
          <p:cNvSpPr/>
          <p:nvPr/>
        </p:nvSpPr>
        <p:spPr>
          <a:xfrm>
            <a:off x="7724392" y="3200399"/>
            <a:ext cx="1079292" cy="1019331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be 11"/>
          <p:cNvSpPr/>
          <p:nvPr/>
        </p:nvSpPr>
        <p:spPr>
          <a:xfrm>
            <a:off x="8264038" y="2098623"/>
            <a:ext cx="1079292" cy="1019331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253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be 22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5" name="TextBox 2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ube 27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ube 32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0" y="589475"/>
            <a:ext cx="12192000" cy="0"/>
          </a:xfrm>
          <a:prstGeom prst="line">
            <a:avLst/>
          </a:prstGeom>
          <a:ln w="28575">
            <a:solidFill>
              <a:schemeClr val="tx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0288" y="41835"/>
            <a:ext cx="476726" cy="476726"/>
          </a:xfrm>
          <a:prstGeom prst="rect">
            <a:avLst/>
          </a:prstGeom>
        </p:spPr>
      </p:pic>
      <p:cxnSp>
        <p:nvCxnSpPr>
          <p:cNvPr id="6" name="Elbow Connector 5"/>
          <p:cNvCxnSpPr>
            <a:stCxn id="3" idx="2"/>
            <a:endCxn id="16" idx="0"/>
          </p:cNvCxnSpPr>
          <p:nvPr/>
        </p:nvCxnSpPr>
        <p:spPr>
          <a:xfrm rot="16200000" flipH="1">
            <a:off x="4401423" y="2205788"/>
            <a:ext cx="3840079" cy="46562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/>
          <p:cNvCxnSpPr>
            <a:stCxn id="16" idx="2"/>
            <a:endCxn id="23" idx="5"/>
          </p:cNvCxnSpPr>
          <p:nvPr/>
        </p:nvCxnSpPr>
        <p:spPr>
          <a:xfrm rot="10800000">
            <a:off x="3678817" y="2973461"/>
            <a:ext cx="2488087" cy="173042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/>
          <p:cNvCxnSpPr>
            <a:stCxn id="16" idx="1"/>
            <a:endCxn id="3" idx="1"/>
          </p:cNvCxnSpPr>
          <p:nvPr/>
        </p:nvCxnSpPr>
        <p:spPr>
          <a:xfrm rot="16200000" flipV="1">
            <a:off x="4024964" y="2105523"/>
            <a:ext cx="4216539" cy="565889"/>
          </a:xfrm>
          <a:prstGeom prst="bentConnector4">
            <a:avLst>
              <a:gd name="adj1" fmla="val 45536"/>
              <a:gd name="adj2" fmla="val 140397"/>
            </a:avLst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7721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be 22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5" name="TextBox 2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ube 27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ube 32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602986" y="449705"/>
            <a:ext cx="304089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Auto Deploy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75298" y="1308821"/>
            <a:ext cx="304089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Auto Scale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1:</a:t>
            </a:r>
          </a:p>
        </p:txBody>
      </p:sp>
    </p:spTree>
    <p:extLst>
      <p:ext uri="{BB962C8B-B14F-4D97-AF65-F5344CB8AC3E}">
        <p14:creationId xmlns:p14="http://schemas.microsoft.com/office/powerpoint/2010/main" val="291405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 animBg="1"/>
      <p:bldP spid="16" grpId="0" animBg="1"/>
      <p:bldP spid="17" grpId="0" animBg="1"/>
      <p:bldP spid="19" grpId="0" animBg="1"/>
      <p:bldP spid="23" grpId="0" animBg="1"/>
      <p:bldP spid="24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217408" y="3055827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602986" y="449705"/>
            <a:ext cx="38094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Load Balancing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Elbow Connector 11"/>
          <p:cNvCxnSpPr>
            <a:stCxn id="5" idx="2"/>
            <a:endCxn id="63" idx="5"/>
          </p:cNvCxnSpPr>
          <p:nvPr/>
        </p:nvCxnSpPr>
        <p:spPr>
          <a:xfrm rot="10800000" flipV="1">
            <a:off x="4035133" y="1763178"/>
            <a:ext cx="2429581" cy="24603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/>
          <p:cNvCxnSpPr>
            <a:stCxn id="5" idx="4"/>
            <a:endCxn id="16" idx="0"/>
          </p:cNvCxnSpPr>
          <p:nvPr/>
        </p:nvCxnSpPr>
        <p:spPr>
          <a:xfrm rot="5400000">
            <a:off x="5385676" y="3099418"/>
            <a:ext cx="2427821" cy="90623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/>
          <p:cNvCxnSpPr>
            <a:stCxn id="5" idx="4"/>
            <a:endCxn id="15" idx="0"/>
          </p:cNvCxnSpPr>
          <p:nvPr/>
        </p:nvCxnSpPr>
        <p:spPr>
          <a:xfrm rot="16200000" flipH="1">
            <a:off x="5528876" y="3046839"/>
            <a:ext cx="2966843" cy="734801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/>
          <p:cNvCxnSpPr>
            <a:stCxn id="5" idx="6"/>
            <a:endCxn id="13" idx="2"/>
          </p:cNvCxnSpPr>
          <p:nvPr/>
        </p:nvCxnSpPr>
        <p:spPr>
          <a:xfrm>
            <a:off x="6825081" y="1763179"/>
            <a:ext cx="2215674" cy="182264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7" name="Elbow Connector 46"/>
          <p:cNvCxnSpPr>
            <a:stCxn id="52" idx="6"/>
            <a:endCxn id="34" idx="2"/>
          </p:cNvCxnSpPr>
          <p:nvPr/>
        </p:nvCxnSpPr>
        <p:spPr>
          <a:xfrm flipV="1">
            <a:off x="7430454" y="2423505"/>
            <a:ext cx="2786954" cy="39505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/>
          <p:cNvCxnSpPr>
            <a:stCxn id="52" idx="2"/>
            <a:endCxn id="19" idx="0"/>
          </p:cNvCxnSpPr>
          <p:nvPr/>
        </p:nvCxnSpPr>
        <p:spPr>
          <a:xfrm rot="10800000" flipV="1">
            <a:off x="5577572" y="2463009"/>
            <a:ext cx="1492515" cy="2532639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" name="Elbow Connector 58"/>
          <p:cNvCxnSpPr>
            <a:stCxn id="43" idx="6"/>
            <a:endCxn id="24" idx="2"/>
          </p:cNvCxnSpPr>
          <p:nvPr/>
        </p:nvCxnSpPr>
        <p:spPr>
          <a:xfrm>
            <a:off x="7153272" y="2985009"/>
            <a:ext cx="940885" cy="254747"/>
          </a:xfrm>
          <a:prstGeom prst="bentConnector3">
            <a:avLst/>
          </a:prstGeom>
          <a:ln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Elbow Connector 60"/>
          <p:cNvCxnSpPr>
            <a:stCxn id="43" idx="2"/>
            <a:endCxn id="64" idx="5"/>
          </p:cNvCxnSpPr>
          <p:nvPr/>
        </p:nvCxnSpPr>
        <p:spPr>
          <a:xfrm rot="10800000">
            <a:off x="3678816" y="2973461"/>
            <a:ext cx="3114088" cy="11549"/>
          </a:xfrm>
          <a:prstGeom prst="bentConnector3">
            <a:avLst/>
          </a:prstGeom>
          <a:ln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6" name="Elbow Connector 75"/>
          <p:cNvCxnSpPr>
            <a:endCxn id="67" idx="5"/>
          </p:cNvCxnSpPr>
          <p:nvPr/>
        </p:nvCxnSpPr>
        <p:spPr>
          <a:xfrm rot="10800000">
            <a:off x="2756750" y="2106478"/>
            <a:ext cx="1982451" cy="430872"/>
          </a:xfrm>
          <a:prstGeom prst="bentConnector3">
            <a:avLst>
              <a:gd name="adj1" fmla="val 76906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72" idx="4"/>
            <a:endCxn id="31" idx="0"/>
          </p:cNvCxnSpPr>
          <p:nvPr/>
        </p:nvCxnSpPr>
        <p:spPr>
          <a:xfrm rot="5400000">
            <a:off x="3417366" y="4196722"/>
            <a:ext cx="2976650" cy="27386"/>
          </a:xfrm>
          <a:prstGeom prst="bent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stCxn id="72" idx="6"/>
            <a:endCxn id="29" idx="3"/>
          </p:cNvCxnSpPr>
          <p:nvPr/>
        </p:nvCxnSpPr>
        <p:spPr>
          <a:xfrm>
            <a:off x="5099568" y="2554450"/>
            <a:ext cx="4351011" cy="939538"/>
          </a:xfrm>
          <a:prstGeom prst="bentConnector4">
            <a:avLst>
              <a:gd name="adj1" fmla="val 29972"/>
              <a:gd name="adj2" fmla="val 124331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0" name="Elbow Connector 89"/>
          <p:cNvCxnSpPr>
            <a:stCxn id="86" idx="6"/>
            <a:endCxn id="32" idx="2"/>
          </p:cNvCxnSpPr>
          <p:nvPr/>
        </p:nvCxnSpPr>
        <p:spPr>
          <a:xfrm>
            <a:off x="6199457" y="3335529"/>
            <a:ext cx="4017951" cy="6554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/>
          <p:cNvCxnSpPr>
            <a:stCxn id="86" idx="2"/>
            <a:endCxn id="68" idx="3"/>
          </p:cNvCxnSpPr>
          <p:nvPr/>
        </p:nvCxnSpPr>
        <p:spPr>
          <a:xfrm rot="10800000" flipV="1">
            <a:off x="2184611" y="3335529"/>
            <a:ext cx="3654479" cy="65518"/>
          </a:xfrm>
          <a:prstGeom prst="bentConnector4">
            <a:avLst>
              <a:gd name="adj1" fmla="val 44700"/>
              <a:gd name="adj2" fmla="val 279129"/>
            </a:avLst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3" name="Elbow Connector 102"/>
          <p:cNvCxnSpPr>
            <a:stCxn id="99" idx="6"/>
            <a:endCxn id="27" idx="0"/>
          </p:cNvCxnSpPr>
          <p:nvPr/>
        </p:nvCxnSpPr>
        <p:spPr>
          <a:xfrm>
            <a:off x="5239384" y="3499661"/>
            <a:ext cx="1243987" cy="2124914"/>
          </a:xfrm>
          <a:prstGeom prst="bentConnector2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/>
          <p:cNvCxnSpPr>
            <a:stCxn id="99" idx="2"/>
            <a:endCxn id="66" idx="5"/>
          </p:cNvCxnSpPr>
          <p:nvPr/>
        </p:nvCxnSpPr>
        <p:spPr>
          <a:xfrm rot="10800000" flipV="1">
            <a:off x="3210820" y="3499661"/>
            <a:ext cx="1668196" cy="371984"/>
          </a:xfrm>
          <a:prstGeom prst="bentConnector3">
            <a:avLst>
              <a:gd name="adj1" fmla="val 29902"/>
            </a:avLst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2:</a:t>
            </a:r>
          </a:p>
        </p:txBody>
      </p:sp>
    </p:spTree>
    <p:extLst>
      <p:ext uri="{BB962C8B-B14F-4D97-AF65-F5344CB8AC3E}">
        <p14:creationId xmlns:p14="http://schemas.microsoft.com/office/powerpoint/2010/main" val="2753357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079234" y="601405"/>
            <a:ext cx="42529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Service Discovery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/>
          <p:cNvSpPr txBox="1"/>
          <p:nvPr/>
        </p:nvSpPr>
        <p:spPr>
          <a:xfrm>
            <a:off x="6771920" y="1983478"/>
            <a:ext cx="1074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red:1880</a:t>
            </a:r>
          </a:p>
        </p:txBody>
      </p:sp>
      <p:cxnSp>
        <p:nvCxnSpPr>
          <p:cNvPr id="10" name="Straight Connector 9"/>
          <p:cNvCxnSpPr>
            <a:stCxn id="13" idx="2"/>
            <a:endCxn id="52" idx="7"/>
          </p:cNvCxnSpPr>
          <p:nvPr/>
        </p:nvCxnSpPr>
        <p:spPr>
          <a:xfrm flipH="1">
            <a:off x="7377679" y="1945443"/>
            <a:ext cx="1663076" cy="399028"/>
          </a:xfrm>
          <a:prstGeom prst="line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52" idx="6"/>
            <a:endCxn id="34" idx="2"/>
          </p:cNvCxnSpPr>
          <p:nvPr/>
        </p:nvCxnSpPr>
        <p:spPr>
          <a:xfrm flipV="1">
            <a:off x="7430454" y="2423505"/>
            <a:ext cx="2786954" cy="39505"/>
          </a:xfrm>
          <a:prstGeom prst="line">
            <a:avLst/>
          </a:prstGeom>
          <a:ln>
            <a:solidFill>
              <a:srgbClr val="FF0000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3:</a:t>
            </a:r>
          </a:p>
        </p:txBody>
      </p:sp>
    </p:spTree>
    <p:extLst>
      <p:ext uri="{BB962C8B-B14F-4D97-AF65-F5344CB8AC3E}">
        <p14:creationId xmlns:p14="http://schemas.microsoft.com/office/powerpoint/2010/main" val="40288657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205689" y="249600"/>
            <a:ext cx="39961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Zero Downtime deploys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4:</a:t>
            </a:r>
          </a:p>
        </p:txBody>
      </p:sp>
    </p:spTree>
    <p:extLst>
      <p:ext uri="{BB962C8B-B14F-4D97-AF65-F5344CB8AC3E}">
        <p14:creationId xmlns:p14="http://schemas.microsoft.com/office/powerpoint/2010/main" val="15872143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346577" y="633879"/>
            <a:ext cx="339534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Health Checks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5:</a:t>
            </a:r>
          </a:p>
        </p:txBody>
      </p:sp>
    </p:spTree>
    <p:extLst>
      <p:ext uri="{BB962C8B-B14F-4D97-AF65-F5344CB8AC3E}">
        <p14:creationId xmlns:p14="http://schemas.microsoft.com/office/powerpoint/2010/main" val="1142920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457108" y="205051"/>
            <a:ext cx="57464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Distribute Configuration and Secrets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6:</a:t>
            </a:r>
          </a:p>
        </p:txBody>
      </p:sp>
    </p:spTree>
    <p:extLst>
      <p:ext uri="{BB962C8B-B14F-4D97-AF65-F5344CB8AC3E}">
        <p14:creationId xmlns:p14="http://schemas.microsoft.com/office/powerpoint/2010/main" val="31267165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lowchart: Merge 9"/>
          <p:cNvSpPr/>
          <p:nvPr/>
        </p:nvSpPr>
        <p:spPr>
          <a:xfrm>
            <a:off x="3210820" y="3259329"/>
            <a:ext cx="288101" cy="2087107"/>
          </a:xfrm>
          <a:prstGeom prst="flowChartMerge">
            <a:avLst/>
          </a:prstGeom>
          <a:gradFill flip="none" rotWithShape="1">
            <a:gsLst>
              <a:gs pos="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lowchart: Merge 8"/>
          <p:cNvSpPr/>
          <p:nvPr/>
        </p:nvSpPr>
        <p:spPr>
          <a:xfrm rot="3888528">
            <a:off x="5873380" y="1801317"/>
            <a:ext cx="266343" cy="5037807"/>
          </a:xfrm>
          <a:prstGeom prst="flowChartMerge">
            <a:avLst/>
          </a:prstGeom>
          <a:gradFill flip="none" rotWithShape="1">
            <a:gsLst>
              <a:gs pos="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595695" y="449705"/>
            <a:ext cx="62422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Storage Management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Flowchart: Magnetic Disk 5"/>
          <p:cNvSpPr/>
          <p:nvPr/>
        </p:nvSpPr>
        <p:spPr>
          <a:xfrm>
            <a:off x="2023324" y="5346436"/>
            <a:ext cx="1671145" cy="677917"/>
          </a:xfrm>
          <a:prstGeom prst="flowChartMagneticDisk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7:</a:t>
            </a:r>
          </a:p>
        </p:txBody>
      </p:sp>
    </p:spTree>
    <p:extLst>
      <p:ext uri="{BB962C8B-B14F-4D97-AF65-F5344CB8AC3E}">
        <p14:creationId xmlns:p14="http://schemas.microsoft.com/office/powerpoint/2010/main" val="3055929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595695" y="449705"/>
            <a:ext cx="62422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Monitoring Resources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250" y="1122363"/>
            <a:ext cx="3619500" cy="4381500"/>
          </a:xfrm>
        </p:spPr>
      </p:pic>
      <p:sp>
        <p:nvSpPr>
          <p:cNvPr id="49" name="TextBox 48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8:</a:t>
            </a:r>
          </a:p>
        </p:txBody>
      </p:sp>
    </p:spTree>
    <p:extLst>
      <p:ext uri="{BB962C8B-B14F-4D97-AF65-F5344CB8AC3E}">
        <p14:creationId xmlns:p14="http://schemas.microsoft.com/office/powerpoint/2010/main" val="38862152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47648" y="2459420"/>
            <a:ext cx="8904890" cy="28693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800" dirty="0"/>
              <a:t>How can we meet the challenges?</a:t>
            </a:r>
          </a:p>
        </p:txBody>
      </p:sp>
    </p:spTree>
    <p:extLst>
      <p:ext uri="{BB962C8B-B14F-4D97-AF65-F5344CB8AC3E}">
        <p14:creationId xmlns:p14="http://schemas.microsoft.com/office/powerpoint/2010/main" val="13937331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Containers Orchestrator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297" y="365125"/>
            <a:ext cx="3767958" cy="3524340"/>
          </a:xfrm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The main players:</a:t>
            </a:r>
          </a:p>
          <a:p>
            <a:pPr marL="892175" indent="-803275">
              <a:buFont typeface="Wingdings" panose="05000000000000000000" pitchFamily="2" charset="2"/>
              <a:buChar char="§"/>
            </a:pPr>
            <a:r>
              <a:rPr lang="en-US" sz="3600" dirty="0"/>
              <a:t>Kubernetes</a:t>
            </a:r>
          </a:p>
          <a:p>
            <a:pPr marL="892175" indent="-803275">
              <a:buFont typeface="Wingdings" panose="05000000000000000000" pitchFamily="2" charset="2"/>
              <a:buChar char="§"/>
            </a:pPr>
            <a:r>
              <a:rPr lang="en-US" sz="3600" dirty="0"/>
              <a:t>AWS ECS</a:t>
            </a:r>
          </a:p>
          <a:p>
            <a:pPr marL="892175" indent="-803275">
              <a:buFont typeface="Wingdings" panose="05000000000000000000" pitchFamily="2" charset="2"/>
              <a:buChar char="§"/>
            </a:pPr>
            <a:r>
              <a:rPr lang="en-US" sz="3600" dirty="0" err="1"/>
              <a:t>Docker</a:t>
            </a:r>
            <a:r>
              <a:rPr lang="en-US" sz="3600" dirty="0"/>
              <a:t> Swarm</a:t>
            </a:r>
          </a:p>
          <a:p>
            <a:pPr marL="0" indent="0">
              <a:buNone/>
            </a:pPr>
            <a:endParaRPr lang="en-US" sz="3600" dirty="0"/>
          </a:p>
          <a:p>
            <a:pPr marL="0" indent="0">
              <a:buNone/>
            </a:pPr>
            <a:r>
              <a:rPr lang="en-US" sz="3600" dirty="0"/>
              <a:t>Kubernetes has the largest community and is the most popular by a big margin</a:t>
            </a:r>
          </a:p>
          <a:p>
            <a:pPr marL="0" indent="0"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41472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wipe/>
      </p:transition>
    </mc:Choice>
    <mc:Fallback xmlns="">
      <p:transition spd="slow">
        <p:wip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</a:t>
            </a:r>
            <a:r>
              <a:rPr lang="en-US" b="1" dirty="0"/>
              <a:t>Kubernetes (aka. K8s)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620" y="365125"/>
            <a:ext cx="1085193" cy="1085193"/>
          </a:xfrm>
        </p:spPr>
      </p:pic>
      <p:sp>
        <p:nvSpPr>
          <p:cNvPr id="6" name="Content Placeholder 2"/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Kubernetes is an open-source started in 2014 by Google.</a:t>
            </a:r>
          </a:p>
          <a:p>
            <a:pPr marL="0" indent="0">
              <a:buNone/>
            </a:pPr>
            <a:r>
              <a:rPr lang="en-US" sz="3600" dirty="0"/>
              <a:t>Community includes Google, Red Hat, and over 2000 authors. (Source: </a:t>
            </a:r>
            <a:r>
              <a:rPr lang="en-US" sz="3600" dirty="0">
                <a:hlinkClick r:id="rId3"/>
              </a:rPr>
              <a:t>CNCF)</a:t>
            </a:r>
            <a:endParaRPr lang="en-US" sz="3600" dirty="0"/>
          </a:p>
          <a:p>
            <a:pPr marL="0" indent="0">
              <a:buNone/>
            </a:pPr>
            <a:r>
              <a:rPr lang="en-US" sz="3600" dirty="0"/>
              <a:t>The name </a:t>
            </a:r>
            <a:r>
              <a:rPr lang="en-US" sz="3600" b="1" dirty="0"/>
              <a:t>Kubernetes</a:t>
            </a:r>
            <a:r>
              <a:rPr lang="en-US" sz="3600" dirty="0"/>
              <a:t> originates from Greek, meaning </a:t>
            </a:r>
            <a:r>
              <a:rPr lang="en-US" sz="3600" i="1" dirty="0"/>
              <a:t>helmsman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1279275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587994"/>
            <a:ext cx="5171090" cy="9596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2867847"/>
            <a:ext cx="5171090" cy="9026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1542284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A </a:t>
            </a:r>
            <a:r>
              <a:rPr lang="en-US" sz="2800" dirty="0" err="1">
                <a:solidFill>
                  <a:schemeClr val="tx1"/>
                </a:solidFill>
              </a:rPr>
              <a:t>microservice</a:t>
            </a:r>
            <a:r>
              <a:rPr lang="en-US" sz="2800" dirty="0">
                <a:solidFill>
                  <a:schemeClr val="tx1"/>
                </a:solidFill>
              </a:rPr>
              <a:t> is an </a:t>
            </a:r>
            <a:r>
              <a:rPr lang="en-US" sz="2800" b="1" dirty="0">
                <a:solidFill>
                  <a:schemeClr val="tx1"/>
                </a:solidFill>
              </a:rPr>
              <a:t>isolated</a:t>
            </a:r>
            <a:r>
              <a:rPr lang="en-US" sz="2800" dirty="0">
                <a:solidFill>
                  <a:schemeClr val="tx1"/>
                </a:solidFill>
              </a:rPr>
              <a:t>, </a:t>
            </a:r>
            <a:r>
              <a:rPr lang="en-US" sz="2800" b="1" dirty="0">
                <a:solidFill>
                  <a:schemeClr val="tx1"/>
                </a:solidFill>
              </a:rPr>
              <a:t>loosely-coupled</a:t>
            </a:r>
            <a:r>
              <a:rPr lang="en-US" sz="2800" dirty="0">
                <a:solidFill>
                  <a:schemeClr val="tx1"/>
                </a:solidFill>
              </a:rPr>
              <a:t> unit of development that works on a </a:t>
            </a:r>
            <a:r>
              <a:rPr lang="en-US" sz="2800" b="1" dirty="0">
                <a:solidFill>
                  <a:schemeClr val="tx1"/>
                </a:solidFill>
              </a:rPr>
              <a:t>single concern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2793645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Kubernetes is an open-source platform designed to automate deploying, scaling, and operating application containers.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8200" y="4098810"/>
            <a:ext cx="5171090" cy="9619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8200" y="4102812"/>
            <a:ext cx="5171090" cy="95791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</p:spTree>
    <p:extLst>
      <p:ext uri="{BB962C8B-B14F-4D97-AF65-F5344CB8AC3E}">
        <p14:creationId xmlns:p14="http://schemas.microsoft.com/office/powerpoint/2010/main" val="2097246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7900253" y="265038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be 22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453492">
            <a:off x="7535554" y="4166931"/>
            <a:ext cx="2441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5" name="TextBox 24"/>
          <p:cNvSpPr txBox="1"/>
          <p:nvPr/>
        </p:nvSpPr>
        <p:spPr>
          <a:xfrm rot="2872608">
            <a:off x="362726" y="3558958"/>
            <a:ext cx="2618282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493" y="6470691"/>
            <a:ext cx="3059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ube 27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ube 32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8990831" y="2702127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0060199" y="188546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4334493" y="549629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9991768" y="2926579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5991390" y="416933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5873017" y="5407076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4983056" y="4759499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210820" y="1580897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6860830" y="471341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2860024" y="260220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1926582" y="163114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1695761" y="26011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2340268" y="3482816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10217409" y="2078262"/>
            <a:ext cx="670915" cy="574240"/>
            <a:chOff x="10217409" y="2078262"/>
            <a:chExt cx="670915" cy="574240"/>
          </a:xfrm>
        </p:grpSpPr>
        <p:sp>
          <p:nvSpPr>
            <p:cNvPr id="34" name="Cube 33"/>
            <p:cNvSpPr/>
            <p:nvPr/>
          </p:nvSpPr>
          <p:spPr>
            <a:xfrm>
              <a:off x="10217409" y="2078262"/>
              <a:ext cx="474654" cy="373458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Cube 49"/>
            <p:cNvSpPr/>
            <p:nvPr/>
          </p:nvSpPr>
          <p:spPr>
            <a:xfrm>
              <a:off x="10413670" y="2279044"/>
              <a:ext cx="474654" cy="373458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5190201" y="4932585"/>
            <a:ext cx="649720" cy="658423"/>
            <a:chOff x="5190201" y="4932585"/>
            <a:chExt cx="649720" cy="658423"/>
          </a:xfrm>
        </p:grpSpPr>
        <p:sp>
          <p:nvSpPr>
            <p:cNvPr id="19" name="Cube 18"/>
            <p:cNvSpPr/>
            <p:nvPr/>
          </p:nvSpPr>
          <p:spPr>
            <a:xfrm>
              <a:off x="5190201" y="4932585"/>
              <a:ext cx="450022" cy="411427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Cube 50"/>
            <p:cNvSpPr/>
            <p:nvPr/>
          </p:nvSpPr>
          <p:spPr>
            <a:xfrm>
              <a:off x="5389899" y="5179581"/>
              <a:ext cx="450022" cy="411427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Cube 51"/>
          <p:cNvSpPr/>
          <p:nvPr/>
        </p:nvSpPr>
        <p:spPr>
          <a:xfrm>
            <a:off x="10196006" y="2092134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Cube 52"/>
          <p:cNvSpPr/>
          <p:nvPr/>
        </p:nvSpPr>
        <p:spPr>
          <a:xfrm>
            <a:off x="5149910" y="495981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itle 1"/>
          <p:cNvSpPr>
            <a:spLocks noGrp="1"/>
          </p:cNvSpPr>
          <p:nvPr>
            <p:ph type="title"/>
          </p:nvPr>
        </p:nvSpPr>
        <p:spPr>
          <a:xfrm>
            <a:off x="4447074" y="249706"/>
            <a:ext cx="4126701" cy="2161889"/>
          </a:xfrm>
        </p:spPr>
        <p:txBody>
          <a:bodyPr>
            <a:normAutofit/>
          </a:bodyPr>
          <a:lstStyle/>
          <a:p>
            <a:r>
              <a:rPr lang="en-US" i="1" dirty="0"/>
              <a:t>Pod</a:t>
            </a:r>
            <a:r>
              <a:rPr lang="en-US" dirty="0"/>
              <a:t> - the basic building block of Kubernetes</a:t>
            </a:r>
          </a:p>
        </p:txBody>
      </p:sp>
      <p:sp>
        <p:nvSpPr>
          <p:cNvPr id="9" name="TextBox 8"/>
          <p:cNvSpPr txBox="1"/>
          <p:nvPr/>
        </p:nvSpPr>
        <p:spPr>
          <a:xfrm rot="20095450">
            <a:off x="7757988" y="2416605"/>
            <a:ext cx="1107996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10.10.10.2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5889021" y="2493185"/>
            <a:ext cx="1972747" cy="312688"/>
            <a:chOff x="5889021" y="2493185"/>
            <a:chExt cx="1972747" cy="312688"/>
          </a:xfrm>
        </p:grpSpPr>
        <p:cxnSp>
          <p:nvCxnSpPr>
            <p:cNvPr id="12" name="Straight Connector 11"/>
            <p:cNvCxnSpPr>
              <a:endCxn id="57" idx="3"/>
            </p:cNvCxnSpPr>
            <p:nvPr/>
          </p:nvCxnSpPr>
          <p:spPr>
            <a:xfrm flipH="1" flipV="1">
              <a:off x="6853410" y="2649529"/>
              <a:ext cx="1008358" cy="29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/>
            <p:cNvSpPr txBox="1"/>
            <p:nvPr/>
          </p:nvSpPr>
          <p:spPr>
            <a:xfrm>
              <a:off x="5889021" y="2493185"/>
              <a:ext cx="964389" cy="3126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1">
                      <a:lumMod val="75000"/>
                    </a:schemeClr>
                  </a:solidFill>
                </a:rPr>
                <a:t>IP address</a:t>
              </a:r>
            </a:p>
          </p:txBody>
        </p:sp>
      </p:grpSp>
      <p:grpSp>
        <p:nvGrpSpPr>
          <p:cNvPr id="65" name="Group 64"/>
          <p:cNvGrpSpPr/>
          <p:nvPr/>
        </p:nvGrpSpPr>
        <p:grpSpPr>
          <a:xfrm>
            <a:off x="5335430" y="3080716"/>
            <a:ext cx="2758727" cy="307777"/>
            <a:chOff x="5335430" y="3080716"/>
            <a:chExt cx="2758727" cy="307777"/>
          </a:xfrm>
        </p:grpSpPr>
        <p:cxnSp>
          <p:nvCxnSpPr>
            <p:cNvPr id="18" name="Straight Connector 17"/>
            <p:cNvCxnSpPr>
              <a:stCxn id="24" idx="2"/>
              <a:endCxn id="60" idx="3"/>
            </p:cNvCxnSpPr>
            <p:nvPr/>
          </p:nvCxnSpPr>
          <p:spPr>
            <a:xfrm flipH="1" flipV="1">
              <a:off x="6899316" y="3234605"/>
              <a:ext cx="1194841" cy="515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/>
            <p:cNvSpPr txBox="1"/>
            <p:nvPr/>
          </p:nvSpPr>
          <p:spPr>
            <a:xfrm>
              <a:off x="5335430" y="3080716"/>
              <a:ext cx="15638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1">
                      <a:lumMod val="75000"/>
                    </a:schemeClr>
                  </a:solidFill>
                </a:rPr>
                <a:t>Containerized app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7726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5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2" grpId="0" animBg="1"/>
      <p:bldP spid="53" grpId="0" animBg="1"/>
      <p:bldP spid="54" grpId="0"/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 A Pod represents a unit of deployment: </a:t>
            </a:r>
          </a:p>
          <a:p>
            <a:pPr marL="0" indent="0">
              <a:buNone/>
            </a:pPr>
            <a:r>
              <a:rPr lang="en-US" sz="3600" i="1" dirty="0"/>
              <a:t>    a single instance of an application </a:t>
            </a:r>
            <a:r>
              <a:rPr lang="en-US" sz="3600" i="1"/>
              <a:t>in Kubernetes</a:t>
            </a:r>
          </a:p>
          <a:p>
            <a:pPr marL="0" indent="0">
              <a:buNone/>
            </a:pPr>
            <a:endParaRPr lang="en-US" sz="3600" dirty="0"/>
          </a:p>
          <a:p>
            <a:r>
              <a:rPr lang="en-US" sz="3600" dirty="0"/>
              <a:t> The Pod might consist of either a single container or a small number of containers that are tightly coupled and that share resources.</a:t>
            </a:r>
          </a:p>
        </p:txBody>
      </p:sp>
    </p:spTree>
    <p:extLst>
      <p:ext uri="{BB962C8B-B14F-4D97-AF65-F5344CB8AC3E}">
        <p14:creationId xmlns:p14="http://schemas.microsoft.com/office/powerpoint/2010/main" val="10770075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11968" y="38249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7900253" y="265038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239608" y="3730560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38461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079179" y="1439216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Cube 28"/>
          <p:cNvSpPr/>
          <p:nvPr/>
        </p:nvSpPr>
        <p:spPr>
          <a:xfrm>
            <a:off x="8504774" y="2808676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1800796" y="153648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5636305" y="5407173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8294300" y="2569203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0060199" y="188546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5466171" y="520472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6209100" y="416933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4707280" y="4324071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891512" y="121804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1607274" y="1268296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10217409" y="2078262"/>
            <a:ext cx="670915" cy="574240"/>
            <a:chOff x="10217409" y="2078262"/>
            <a:chExt cx="670915" cy="574240"/>
          </a:xfrm>
        </p:grpSpPr>
        <p:sp>
          <p:nvSpPr>
            <p:cNvPr id="34" name="Cube 33"/>
            <p:cNvSpPr/>
            <p:nvPr/>
          </p:nvSpPr>
          <p:spPr>
            <a:xfrm>
              <a:off x="10217409" y="2078262"/>
              <a:ext cx="474654" cy="373458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Cube 49"/>
            <p:cNvSpPr/>
            <p:nvPr/>
          </p:nvSpPr>
          <p:spPr>
            <a:xfrm>
              <a:off x="10413670" y="2279044"/>
              <a:ext cx="474654" cy="373458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914425" y="4497157"/>
            <a:ext cx="649720" cy="658423"/>
            <a:chOff x="5190201" y="4932585"/>
            <a:chExt cx="649720" cy="658423"/>
          </a:xfrm>
        </p:grpSpPr>
        <p:sp>
          <p:nvSpPr>
            <p:cNvPr id="19" name="Cube 18"/>
            <p:cNvSpPr/>
            <p:nvPr/>
          </p:nvSpPr>
          <p:spPr>
            <a:xfrm>
              <a:off x="5190201" y="4932585"/>
              <a:ext cx="450022" cy="411427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Cube 50"/>
            <p:cNvSpPr/>
            <p:nvPr/>
          </p:nvSpPr>
          <p:spPr>
            <a:xfrm>
              <a:off x="5389899" y="5179581"/>
              <a:ext cx="450022" cy="411427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Hexagon 4"/>
          <p:cNvSpPr/>
          <p:nvPr/>
        </p:nvSpPr>
        <p:spPr>
          <a:xfrm>
            <a:off x="4707280" y="1218045"/>
            <a:ext cx="2943141" cy="22049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70839" y="6313594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11597" y="6361207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0058" y="5068700"/>
            <a:ext cx="830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48669" y="567333"/>
            <a:ext cx="922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14189" y="5925219"/>
            <a:ext cx="1847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Node Processes</a:t>
            </a:r>
          </a:p>
        </p:txBody>
      </p:sp>
      <p:cxnSp>
        <p:nvCxnSpPr>
          <p:cNvPr id="18" name="Straight Connector 17"/>
          <p:cNvCxnSpPr>
            <a:stCxn id="67" idx="2"/>
            <a:endCxn id="5" idx="4"/>
          </p:cNvCxnSpPr>
          <p:nvPr/>
        </p:nvCxnSpPr>
        <p:spPr>
          <a:xfrm>
            <a:off x="5109746" y="936665"/>
            <a:ext cx="148759" cy="2813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14" idx="0"/>
            <a:endCxn id="22" idx="3"/>
          </p:cNvCxnSpPr>
          <p:nvPr/>
        </p:nvCxnSpPr>
        <p:spPr>
          <a:xfrm flipV="1">
            <a:off x="1035460" y="3710818"/>
            <a:ext cx="380330" cy="13578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68" idx="1"/>
          </p:cNvCxnSpPr>
          <p:nvPr/>
        </p:nvCxnSpPr>
        <p:spPr>
          <a:xfrm flipH="1">
            <a:off x="7429617" y="6109885"/>
            <a:ext cx="1584572" cy="3488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111981" y="430307"/>
            <a:ext cx="789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Pod</a:t>
            </a:r>
          </a:p>
        </p:txBody>
      </p:sp>
      <p:cxnSp>
        <p:nvCxnSpPr>
          <p:cNvPr id="53" name="Straight Connector 52"/>
          <p:cNvCxnSpPr>
            <a:stCxn id="52" idx="2"/>
            <a:endCxn id="40" idx="1"/>
          </p:cNvCxnSpPr>
          <p:nvPr/>
        </p:nvCxnSpPr>
        <p:spPr>
          <a:xfrm>
            <a:off x="8506586" y="799639"/>
            <a:ext cx="492177" cy="7169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66DA65D2-F556-497D-AFA8-DDE65C785788}"/>
              </a:ext>
            </a:extLst>
          </p:cNvPr>
          <p:cNvSpPr/>
          <p:nvPr/>
        </p:nvSpPr>
        <p:spPr>
          <a:xfrm>
            <a:off x="5076521" y="1252321"/>
            <a:ext cx="1116630" cy="96701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Cube 64">
            <a:extLst>
              <a:ext uri="{FF2B5EF4-FFF2-40B4-BE49-F238E27FC236}">
                <a16:creationId xmlns:a16="http://schemas.microsoft.com/office/drawing/2014/main" id="{FC89DB06-DF21-457C-AA8A-843510F87F76}"/>
              </a:ext>
            </a:extLst>
          </p:cNvPr>
          <p:cNvSpPr/>
          <p:nvPr/>
        </p:nvSpPr>
        <p:spPr>
          <a:xfrm>
            <a:off x="5185906" y="1455895"/>
            <a:ext cx="895489" cy="535709"/>
          </a:xfrm>
          <a:prstGeom prst="cub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Kube-apiserver</a:t>
            </a:r>
            <a:endParaRPr lang="en-US" sz="1200" dirty="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66DA65D2-F556-497D-AFA8-DDE65C785788}"/>
              </a:ext>
            </a:extLst>
          </p:cNvPr>
          <p:cNvSpPr/>
          <p:nvPr/>
        </p:nvSpPr>
        <p:spPr>
          <a:xfrm>
            <a:off x="6265630" y="1604312"/>
            <a:ext cx="927056" cy="7669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ube 68">
            <a:extLst>
              <a:ext uri="{FF2B5EF4-FFF2-40B4-BE49-F238E27FC236}">
                <a16:creationId xmlns:a16="http://schemas.microsoft.com/office/drawing/2014/main" id="{FC89DB06-DF21-457C-AA8A-843510F87F76}"/>
              </a:ext>
            </a:extLst>
          </p:cNvPr>
          <p:cNvSpPr/>
          <p:nvPr/>
        </p:nvSpPr>
        <p:spPr>
          <a:xfrm>
            <a:off x="6389412" y="1832913"/>
            <a:ext cx="691517" cy="386424"/>
          </a:xfrm>
          <a:prstGeom prst="cub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etcd</a:t>
            </a:r>
            <a:endParaRPr lang="en-US" sz="1200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66DA65D2-F556-497D-AFA8-DDE65C785788}"/>
              </a:ext>
            </a:extLst>
          </p:cNvPr>
          <p:cNvSpPr/>
          <p:nvPr/>
        </p:nvSpPr>
        <p:spPr>
          <a:xfrm>
            <a:off x="5003234" y="2264296"/>
            <a:ext cx="1116630" cy="96701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Cube 70">
            <a:extLst>
              <a:ext uri="{FF2B5EF4-FFF2-40B4-BE49-F238E27FC236}">
                <a16:creationId xmlns:a16="http://schemas.microsoft.com/office/drawing/2014/main" id="{FC89DB06-DF21-457C-AA8A-843510F87F76}"/>
              </a:ext>
            </a:extLst>
          </p:cNvPr>
          <p:cNvSpPr/>
          <p:nvPr/>
        </p:nvSpPr>
        <p:spPr>
          <a:xfrm>
            <a:off x="5099367" y="2467870"/>
            <a:ext cx="925877" cy="535709"/>
          </a:xfrm>
          <a:prstGeom prst="cub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Kube</a:t>
            </a:r>
            <a:r>
              <a:rPr lang="en-US" sz="1200" dirty="0"/>
              <a:t>-scheduler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6DA65D2-F556-497D-AFA8-DDE65C785788}"/>
              </a:ext>
            </a:extLst>
          </p:cNvPr>
          <p:cNvSpPr/>
          <p:nvPr/>
        </p:nvSpPr>
        <p:spPr>
          <a:xfrm>
            <a:off x="6110050" y="2406176"/>
            <a:ext cx="1227691" cy="96701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Cube 73">
            <a:extLst>
              <a:ext uri="{FF2B5EF4-FFF2-40B4-BE49-F238E27FC236}">
                <a16:creationId xmlns:a16="http://schemas.microsoft.com/office/drawing/2014/main" id="{FC89DB06-DF21-457C-AA8A-843510F87F76}"/>
              </a:ext>
            </a:extLst>
          </p:cNvPr>
          <p:cNvSpPr/>
          <p:nvPr/>
        </p:nvSpPr>
        <p:spPr>
          <a:xfrm>
            <a:off x="6206184" y="2609750"/>
            <a:ext cx="1036938" cy="596140"/>
          </a:xfrm>
          <a:prstGeom prst="cub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Kube</a:t>
            </a:r>
            <a:r>
              <a:rPr lang="en-US" sz="1200" dirty="0"/>
              <a:t>-controller-manager</a:t>
            </a:r>
          </a:p>
        </p:txBody>
      </p:sp>
    </p:spTree>
    <p:extLst>
      <p:ext uri="{BB962C8B-B14F-4D97-AF65-F5344CB8AC3E}">
        <p14:creationId xmlns:p14="http://schemas.microsoft.com/office/powerpoint/2010/main" val="32296233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CustomShape 1"/>
          <p:cNvSpPr/>
          <p:nvPr/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pic>
        <p:nvPicPr>
          <p:cNvPr id="94" name="Picture 4"/>
          <p:cNvPicPr/>
          <p:nvPr/>
        </p:nvPicPr>
        <p:blipFill>
          <a:blip r:embed="rId2"/>
          <a:stretch/>
        </p:blipFill>
        <p:spPr>
          <a:xfrm>
            <a:off x="625320" y="-88920"/>
            <a:ext cx="10257120" cy="6822000"/>
          </a:xfrm>
          <a:prstGeom prst="rect">
            <a:avLst/>
          </a:prstGeom>
          <a:ln>
            <a:noFill/>
          </a:ln>
        </p:spPr>
      </p:pic>
      <p:sp>
        <p:nvSpPr>
          <p:cNvPr id="95" name="CustomShape 2"/>
          <p:cNvSpPr/>
          <p:nvPr/>
        </p:nvSpPr>
        <p:spPr>
          <a:xfrm>
            <a:off x="5261400" y="3438360"/>
            <a:ext cx="1262160" cy="133704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accent1">
              <a:lumMod val="75000"/>
            </a:schemeClr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96" name="CustomShape 3"/>
          <p:cNvSpPr/>
          <p:nvPr/>
        </p:nvSpPr>
        <p:spPr>
          <a:xfrm>
            <a:off x="5142600" y="3322440"/>
            <a:ext cx="1506960" cy="123624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bg1"/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97" name="CustomShape 4"/>
          <p:cNvSpPr/>
          <p:nvPr/>
        </p:nvSpPr>
        <p:spPr>
          <a:xfrm rot="18890400">
            <a:off x="6508800" y="2325960"/>
            <a:ext cx="1253880" cy="115488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accent1">
              <a:lumMod val="75000"/>
            </a:schemeClr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98" name="CustomShape 5"/>
          <p:cNvSpPr/>
          <p:nvPr/>
        </p:nvSpPr>
        <p:spPr>
          <a:xfrm rot="18890400">
            <a:off x="6570000" y="1942560"/>
            <a:ext cx="1320120" cy="141372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bg1"/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99" name="CustomShape 6"/>
          <p:cNvSpPr/>
          <p:nvPr/>
        </p:nvSpPr>
        <p:spPr>
          <a:xfrm rot="2888400">
            <a:off x="4053600" y="2295000"/>
            <a:ext cx="1150920" cy="117576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accent1">
              <a:lumMod val="75000"/>
            </a:schemeClr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00" name="CustomShape 7"/>
          <p:cNvSpPr/>
          <p:nvPr/>
        </p:nvSpPr>
        <p:spPr>
          <a:xfrm rot="2884800">
            <a:off x="3879000" y="1935360"/>
            <a:ext cx="1326240" cy="140004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bg1"/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01" name="CustomShape 8"/>
          <p:cNvSpPr/>
          <p:nvPr/>
        </p:nvSpPr>
        <p:spPr>
          <a:xfrm>
            <a:off x="5352840" y="2232360"/>
            <a:ext cx="1078920" cy="872280"/>
          </a:xfrm>
          <a:prstGeom prst="hexagon">
            <a:avLst>
              <a:gd name="adj" fmla="val 25000"/>
              <a:gd name="vf" fmla="val 115470"/>
            </a:avLst>
          </a:prstGeom>
          <a:noFill/>
          <a:ln w="38160"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02" name="CustomShape 9"/>
          <p:cNvSpPr/>
          <p:nvPr/>
        </p:nvSpPr>
        <p:spPr>
          <a:xfrm>
            <a:off x="3414960" y="4407120"/>
            <a:ext cx="2114280" cy="33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600" b="0" strike="noStrike" spc="-1">
                <a:solidFill>
                  <a:srgbClr val="2E75B6"/>
                </a:solidFill>
                <a:uFill>
                  <a:solidFill>
                    <a:srgbClr val="FFFFFF"/>
                  </a:solidFill>
                </a:uFill>
                <a:latin typeface="Calibri"/>
                <a:ea typeface="DejaVu Sans"/>
              </a:rPr>
              <a:t>Kubernetes Cluster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03" name="Content Placeholder 4"/>
          <p:cNvPicPr/>
          <p:nvPr/>
        </p:nvPicPr>
        <p:blipFill>
          <a:blip r:embed="rId3"/>
          <a:stretch/>
        </p:blipFill>
        <p:spPr>
          <a:xfrm>
            <a:off x="3528720" y="4133520"/>
            <a:ext cx="308160" cy="308160"/>
          </a:xfrm>
          <a:prstGeom prst="rect">
            <a:avLst/>
          </a:prstGeom>
          <a:ln>
            <a:noFill/>
          </a:ln>
        </p:spPr>
      </p:pic>
      <p:sp>
        <p:nvSpPr>
          <p:cNvPr id="104" name="CustomShape 10"/>
          <p:cNvSpPr/>
          <p:nvPr/>
        </p:nvSpPr>
        <p:spPr>
          <a:xfrm>
            <a:off x="2636280" y="1027800"/>
            <a:ext cx="5786280" cy="4375080"/>
          </a:xfrm>
          <a:prstGeom prst="heptagon">
            <a:avLst>
              <a:gd name="hf" fmla="val 102572"/>
              <a:gd name="vf" fmla="val 105210"/>
            </a:avLst>
          </a:prstGeom>
          <a:noFill/>
          <a:ln w="19080">
            <a:custDash>
              <a:ds d="400000" sp="300000"/>
            </a:custDash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09685920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11968" y="38249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239608" y="3730560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Hexagon 4"/>
          <p:cNvSpPr/>
          <p:nvPr/>
        </p:nvSpPr>
        <p:spPr>
          <a:xfrm>
            <a:off x="4983056" y="1369980"/>
            <a:ext cx="2206020" cy="1832793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70839" y="6313594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11597" y="6361207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6647" y="51567"/>
            <a:ext cx="504934" cy="480659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0" y="589475"/>
            <a:ext cx="12192000" cy="0"/>
          </a:xfrm>
          <a:prstGeom prst="line">
            <a:avLst/>
          </a:prstGeom>
          <a:ln w="28575">
            <a:solidFill>
              <a:schemeClr val="tx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/>
          <p:cNvCxnSpPr>
            <a:stCxn id="2" idx="3"/>
          </p:cNvCxnSpPr>
          <p:nvPr/>
        </p:nvCxnSpPr>
        <p:spPr>
          <a:xfrm>
            <a:off x="4951581" y="291897"/>
            <a:ext cx="1042819" cy="107808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04575" y="116963"/>
            <a:ext cx="2307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kubectl</a:t>
            </a:r>
            <a:r>
              <a:rPr lang="en-US" dirty="0"/>
              <a:t> run my-app 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48766" y="376026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9853" y="2822048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8415" y="5935825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5237" y="394732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Node#1</a:t>
            </a:r>
          </a:p>
        </p:txBody>
      </p:sp>
    </p:spTree>
    <p:extLst>
      <p:ext uri="{BB962C8B-B14F-4D97-AF65-F5344CB8AC3E}">
        <p14:creationId xmlns:p14="http://schemas.microsoft.com/office/powerpoint/2010/main" val="350950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4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4812"/>
          </a:xfrm>
        </p:spPr>
        <p:txBody>
          <a:bodyPr/>
          <a:lstStyle/>
          <a:p>
            <a:r>
              <a:rPr lang="en-US" dirty="0"/>
              <a:t>Working with </a:t>
            </a:r>
            <a:r>
              <a:rPr lang="en-US" b="1" dirty="0" err="1"/>
              <a:t>kubectl</a:t>
            </a:r>
            <a:r>
              <a:rPr lang="en-US" dirty="0"/>
              <a:t> Imperative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36914"/>
            <a:ext cx="10515600" cy="47400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Deploy and Explore an Application  (</a:t>
            </a:r>
            <a:r>
              <a:rPr lang="en-US" dirty="0">
                <a:solidFill>
                  <a:srgbClr val="FF0000"/>
                </a:solidFill>
                <a:hlinkClick r:id="rId2"/>
              </a:rPr>
              <a:t>Lab: task-1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838201" y="1944914"/>
            <a:ext cx="10279742" cy="46563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a single pod with </a:t>
            </a:r>
            <a:r>
              <a:rPr lang="en-US" sz="2200" i="1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nginx</a:t>
            </a:r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container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run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--image=</a:t>
            </a:r>
            <a:r>
              <a:rPr lang="en-US" sz="22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nginx</a:t>
            </a:r>
            <a:endParaRPr lang="en-US" sz="2200" b="1" dirty="0">
              <a:solidFill>
                <a:schemeClr val="accent2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 all pods 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stream pod logs (</a:t>
            </a:r>
            <a:r>
              <a:rPr lang="en-US" sz="2200" i="1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stdout</a:t>
            </a:r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logs –f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endParaRPr lang="en-US" sz="22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run command in a pod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exec –it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bash </a:t>
            </a:r>
          </a:p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forward port 80 of pod to port 10080 on your local machine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port-forward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10080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80</a:t>
            </a:r>
          </a:p>
        </p:txBody>
      </p:sp>
    </p:spTree>
    <p:extLst>
      <p:ext uri="{BB962C8B-B14F-4D97-AF65-F5344CB8AC3E}">
        <p14:creationId xmlns:p14="http://schemas.microsoft.com/office/powerpoint/2010/main" val="16151486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Pods are designed as relatively ephemeral, disposable entities. </a:t>
            </a:r>
          </a:p>
          <a:p>
            <a:r>
              <a:rPr lang="en-US" sz="4000" dirty="0"/>
              <a:t>Pods are managed in Kubernetes via </a:t>
            </a:r>
            <a:r>
              <a:rPr lang="en-US" sz="4000" b="1" dirty="0"/>
              <a:t>Controllers</a:t>
            </a:r>
          </a:p>
        </p:txBody>
      </p:sp>
    </p:spTree>
    <p:extLst>
      <p:ext uri="{BB962C8B-B14F-4D97-AF65-F5344CB8AC3E}">
        <p14:creationId xmlns:p14="http://schemas.microsoft.com/office/powerpoint/2010/main" val="21390665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Controller can create and manage multiple Pods for you, handling replication and rollout and providing self-healing capabilities at cluster scope. </a:t>
            </a:r>
          </a:p>
          <a:p>
            <a:r>
              <a:rPr lang="en-US" dirty="0"/>
              <a:t>Some examples of Controllers:</a:t>
            </a:r>
          </a:p>
          <a:p>
            <a:pPr lvl="1"/>
            <a:r>
              <a:rPr lang="en-US" u="sng" dirty="0">
                <a:hlinkClick r:id="rId2"/>
              </a:rPr>
              <a:t>Deployment</a:t>
            </a:r>
            <a:endParaRPr lang="en-US" dirty="0"/>
          </a:p>
          <a:p>
            <a:pPr lvl="1"/>
            <a:r>
              <a:rPr lang="en-US" u="sng" dirty="0" err="1">
                <a:hlinkClick r:id="rId3"/>
              </a:rPr>
              <a:t>StatefulSet</a:t>
            </a:r>
            <a:endParaRPr lang="en-US" dirty="0"/>
          </a:p>
          <a:p>
            <a:pPr lvl="1"/>
            <a:r>
              <a:rPr lang="en-US" u="sng" dirty="0" err="1">
                <a:hlinkClick r:id="rId4"/>
              </a:rPr>
              <a:t>DaemonSet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2242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11968" y="38249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7900253" y="265038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239608" y="3730560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38461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079179" y="1439216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Cube 28"/>
          <p:cNvSpPr/>
          <p:nvPr/>
        </p:nvSpPr>
        <p:spPr>
          <a:xfrm>
            <a:off x="8504774" y="2808676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1800796" y="153648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5636305" y="5407173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8294300" y="2569203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0060199" y="188546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5466171" y="520472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6209100" y="416933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4707280" y="4324071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891512" y="121804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1607274" y="1268296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10217409" y="2078262"/>
            <a:ext cx="670915" cy="574240"/>
            <a:chOff x="10217409" y="2078262"/>
            <a:chExt cx="670915" cy="574240"/>
          </a:xfrm>
        </p:grpSpPr>
        <p:sp>
          <p:nvSpPr>
            <p:cNvPr id="34" name="Cube 33"/>
            <p:cNvSpPr/>
            <p:nvPr/>
          </p:nvSpPr>
          <p:spPr>
            <a:xfrm>
              <a:off x="10217409" y="2078262"/>
              <a:ext cx="474654" cy="373458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Cube 49"/>
            <p:cNvSpPr/>
            <p:nvPr/>
          </p:nvSpPr>
          <p:spPr>
            <a:xfrm>
              <a:off x="10413670" y="2279044"/>
              <a:ext cx="474654" cy="373458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914425" y="4497157"/>
            <a:ext cx="649720" cy="658423"/>
            <a:chOff x="5190201" y="4932585"/>
            <a:chExt cx="649720" cy="658423"/>
          </a:xfrm>
        </p:grpSpPr>
        <p:sp>
          <p:nvSpPr>
            <p:cNvPr id="19" name="Cube 18"/>
            <p:cNvSpPr/>
            <p:nvPr/>
          </p:nvSpPr>
          <p:spPr>
            <a:xfrm>
              <a:off x="5190201" y="4932585"/>
              <a:ext cx="450022" cy="411427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Cube 50"/>
            <p:cNvSpPr/>
            <p:nvPr/>
          </p:nvSpPr>
          <p:spPr>
            <a:xfrm>
              <a:off x="5389899" y="5179581"/>
              <a:ext cx="450022" cy="411427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Hexagon 4"/>
          <p:cNvSpPr/>
          <p:nvPr/>
        </p:nvSpPr>
        <p:spPr>
          <a:xfrm>
            <a:off x="4933702" y="1369981"/>
            <a:ext cx="2401095" cy="1898378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70839" y="6313594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11597" y="6361207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0058" y="5068700"/>
            <a:ext cx="830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48669" y="567333"/>
            <a:ext cx="922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14189" y="5925219"/>
            <a:ext cx="1847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Node Processes</a:t>
            </a:r>
          </a:p>
        </p:txBody>
      </p:sp>
      <p:cxnSp>
        <p:nvCxnSpPr>
          <p:cNvPr id="18" name="Straight Connector 17"/>
          <p:cNvCxnSpPr>
            <a:stCxn id="67" idx="2"/>
            <a:endCxn id="5" idx="4"/>
          </p:cNvCxnSpPr>
          <p:nvPr/>
        </p:nvCxnSpPr>
        <p:spPr>
          <a:xfrm>
            <a:off x="5109746" y="936665"/>
            <a:ext cx="298551" cy="4333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14" idx="0"/>
            <a:endCxn id="22" idx="3"/>
          </p:cNvCxnSpPr>
          <p:nvPr/>
        </p:nvCxnSpPr>
        <p:spPr>
          <a:xfrm flipV="1">
            <a:off x="1035460" y="3710818"/>
            <a:ext cx="380330" cy="13578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68" idx="1"/>
          </p:cNvCxnSpPr>
          <p:nvPr/>
        </p:nvCxnSpPr>
        <p:spPr>
          <a:xfrm flipH="1">
            <a:off x="7429617" y="6109885"/>
            <a:ext cx="1584572" cy="3488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6209100" y="1600200"/>
            <a:ext cx="562350" cy="4886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D</a:t>
            </a:r>
          </a:p>
        </p:txBody>
      </p:sp>
      <p:sp>
        <p:nvSpPr>
          <p:cNvPr id="85" name="Curved Right Arrow 84"/>
          <p:cNvSpPr/>
          <p:nvPr/>
        </p:nvSpPr>
        <p:spPr>
          <a:xfrm>
            <a:off x="6283249" y="1626347"/>
            <a:ext cx="282174" cy="451915"/>
          </a:xfrm>
          <a:prstGeom prst="curved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456869" y="824037"/>
            <a:ext cx="1388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Deployment</a:t>
            </a:r>
          </a:p>
        </p:txBody>
      </p:sp>
      <p:cxnSp>
        <p:nvCxnSpPr>
          <p:cNvPr id="90" name="Straight Connector 89"/>
          <p:cNvCxnSpPr>
            <a:stCxn id="88" idx="2"/>
            <a:endCxn id="84" idx="7"/>
          </p:cNvCxnSpPr>
          <p:nvPr/>
        </p:nvCxnSpPr>
        <p:spPr>
          <a:xfrm flipH="1">
            <a:off x="6689096" y="1193369"/>
            <a:ext cx="461937" cy="4783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403356" y="1711719"/>
            <a:ext cx="562350" cy="488668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D</a:t>
            </a:r>
          </a:p>
        </p:txBody>
      </p:sp>
      <p:sp>
        <p:nvSpPr>
          <p:cNvPr id="92" name="Curved Right Arrow 91"/>
          <p:cNvSpPr/>
          <p:nvPr/>
        </p:nvSpPr>
        <p:spPr>
          <a:xfrm>
            <a:off x="5477505" y="1737866"/>
            <a:ext cx="282174" cy="451915"/>
          </a:xfrm>
          <a:prstGeom prst="curvedRightArrow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5798011" y="2395320"/>
            <a:ext cx="562350" cy="48866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D</a:t>
            </a:r>
          </a:p>
        </p:txBody>
      </p:sp>
      <p:sp>
        <p:nvSpPr>
          <p:cNvPr id="94" name="Curved Right Arrow 93"/>
          <p:cNvSpPr/>
          <p:nvPr/>
        </p:nvSpPr>
        <p:spPr>
          <a:xfrm>
            <a:off x="5872160" y="2421467"/>
            <a:ext cx="282174" cy="451915"/>
          </a:xfrm>
          <a:prstGeom prst="curvedRigh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111981" y="430307"/>
            <a:ext cx="789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Pod</a:t>
            </a:r>
          </a:p>
        </p:txBody>
      </p:sp>
      <p:cxnSp>
        <p:nvCxnSpPr>
          <p:cNvPr id="53" name="Straight Connector 52"/>
          <p:cNvCxnSpPr>
            <a:stCxn id="52" idx="2"/>
            <a:endCxn id="40" idx="1"/>
          </p:cNvCxnSpPr>
          <p:nvPr/>
        </p:nvCxnSpPr>
        <p:spPr>
          <a:xfrm>
            <a:off x="8506586" y="799639"/>
            <a:ext cx="492177" cy="7169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69911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11968" y="38249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239608" y="3730560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38461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079179" y="1439216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6209100" y="416933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891512" y="121804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Hexagon 4"/>
          <p:cNvSpPr/>
          <p:nvPr/>
        </p:nvSpPr>
        <p:spPr>
          <a:xfrm>
            <a:off x="4983056" y="1369980"/>
            <a:ext cx="2206020" cy="1832793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70839" y="6313594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11597" y="6361207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6647" y="51567"/>
            <a:ext cx="504934" cy="480659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0" y="589475"/>
            <a:ext cx="12192000" cy="0"/>
          </a:xfrm>
          <a:prstGeom prst="line">
            <a:avLst/>
          </a:prstGeom>
          <a:ln w="28575">
            <a:solidFill>
              <a:schemeClr val="tx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/>
          <p:cNvGrpSpPr/>
          <p:nvPr/>
        </p:nvGrpSpPr>
        <p:grpSpPr>
          <a:xfrm>
            <a:off x="6209100" y="1600200"/>
            <a:ext cx="562350" cy="488668"/>
            <a:chOff x="6209100" y="1600200"/>
            <a:chExt cx="562350" cy="488668"/>
          </a:xfrm>
        </p:grpSpPr>
        <p:sp>
          <p:nvSpPr>
            <p:cNvPr id="69" name="Oval 68"/>
            <p:cNvSpPr/>
            <p:nvPr/>
          </p:nvSpPr>
          <p:spPr>
            <a:xfrm>
              <a:off x="6209100" y="1600200"/>
              <a:ext cx="562350" cy="4886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D</a:t>
              </a:r>
            </a:p>
          </p:txBody>
        </p:sp>
        <p:sp>
          <p:nvSpPr>
            <p:cNvPr id="70" name="Curved Right Arrow 69"/>
            <p:cNvSpPr/>
            <p:nvPr/>
          </p:nvSpPr>
          <p:spPr>
            <a:xfrm>
              <a:off x="6283249" y="1626347"/>
              <a:ext cx="282174" cy="451915"/>
            </a:xfrm>
            <a:prstGeom prst="curvedRightArrow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11" name="Elbow Connector 10"/>
          <p:cNvCxnSpPr>
            <a:stCxn id="2" idx="3"/>
          </p:cNvCxnSpPr>
          <p:nvPr/>
        </p:nvCxnSpPr>
        <p:spPr>
          <a:xfrm>
            <a:off x="4951581" y="291897"/>
            <a:ext cx="1042819" cy="107808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04575" y="116963"/>
            <a:ext cx="3400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kubectl</a:t>
            </a:r>
            <a:r>
              <a:rPr lang="en-US" dirty="0"/>
              <a:t> create deploy  my-app 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48766" y="376026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9853" y="2822048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8415" y="5935825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5237" y="394732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Node#1</a:t>
            </a:r>
          </a:p>
        </p:txBody>
      </p:sp>
    </p:spTree>
    <p:extLst>
      <p:ext uri="{BB962C8B-B14F-4D97-AF65-F5344CB8AC3E}">
        <p14:creationId xmlns:p14="http://schemas.microsoft.com/office/powerpoint/2010/main" val="63296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 animBg="1"/>
      <p:bldP spid="40" grpId="0" animBg="1"/>
      <p:bldP spid="41" grpId="0" animBg="1"/>
      <p:bldP spid="4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85627" y="39557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310718" y="3832828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21384" y="5126723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5945871" y="4937421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Hexagon 4"/>
          <p:cNvSpPr/>
          <p:nvPr/>
        </p:nvSpPr>
        <p:spPr>
          <a:xfrm>
            <a:off x="4908180" y="1383445"/>
            <a:ext cx="2206020" cy="1832793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687740" y="642078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257257" y="6462900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6647" y="51567"/>
            <a:ext cx="504934" cy="480659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0" y="589475"/>
            <a:ext cx="12192000" cy="0"/>
          </a:xfrm>
          <a:prstGeom prst="line">
            <a:avLst/>
          </a:prstGeom>
          <a:ln w="28575">
            <a:solidFill>
              <a:schemeClr val="tx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/>
          <p:cNvGrpSpPr/>
          <p:nvPr/>
        </p:nvGrpSpPr>
        <p:grpSpPr>
          <a:xfrm>
            <a:off x="6134224" y="1613665"/>
            <a:ext cx="562350" cy="488668"/>
            <a:chOff x="6209100" y="1600200"/>
            <a:chExt cx="562350" cy="488668"/>
          </a:xfrm>
        </p:grpSpPr>
        <p:sp>
          <p:nvSpPr>
            <p:cNvPr id="69" name="Oval 68"/>
            <p:cNvSpPr/>
            <p:nvPr/>
          </p:nvSpPr>
          <p:spPr>
            <a:xfrm>
              <a:off x="6209100" y="1600200"/>
              <a:ext cx="562350" cy="4886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D</a:t>
              </a:r>
            </a:p>
          </p:txBody>
        </p:sp>
        <p:sp>
          <p:nvSpPr>
            <p:cNvPr id="70" name="Curved Right Arrow 69"/>
            <p:cNvSpPr/>
            <p:nvPr/>
          </p:nvSpPr>
          <p:spPr>
            <a:xfrm>
              <a:off x="6283249" y="1626347"/>
              <a:ext cx="282174" cy="451915"/>
            </a:xfrm>
            <a:prstGeom prst="curvedRightArrow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11" name="Elbow Connector 10"/>
          <p:cNvCxnSpPr>
            <a:stCxn id="2" idx="3"/>
          </p:cNvCxnSpPr>
          <p:nvPr/>
        </p:nvCxnSpPr>
        <p:spPr>
          <a:xfrm>
            <a:off x="4951581" y="291897"/>
            <a:ext cx="1042819" cy="107808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04574" y="116963"/>
            <a:ext cx="2807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kubectl</a:t>
            </a:r>
            <a:r>
              <a:rPr lang="en-US" dirty="0"/>
              <a:t> expose deploy …</a:t>
            </a:r>
          </a:p>
        </p:txBody>
      </p:sp>
      <p:sp>
        <p:nvSpPr>
          <p:cNvPr id="3" name="Cloud Callout 2"/>
          <p:cNvSpPr/>
          <p:nvPr/>
        </p:nvSpPr>
        <p:spPr>
          <a:xfrm>
            <a:off x="6570480" y="3760260"/>
            <a:ext cx="949360" cy="593822"/>
          </a:xfrm>
          <a:prstGeom prst="cloudCallout">
            <a:avLst>
              <a:gd name="adj1" fmla="val -40223"/>
              <a:gd name="adj2" fmla="val 1977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31" name="Cloud Callout 30"/>
          <p:cNvSpPr/>
          <p:nvPr/>
        </p:nvSpPr>
        <p:spPr>
          <a:xfrm>
            <a:off x="4836933" y="3719259"/>
            <a:ext cx="934537" cy="615075"/>
          </a:xfrm>
          <a:prstGeom prst="cloudCallout">
            <a:avLst>
              <a:gd name="adj1" fmla="val -40223"/>
              <a:gd name="adj2" fmla="val 19773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48766" y="376026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8415" y="5935825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09853" y="2822048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5237" y="394732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Node#1</a:t>
            </a:r>
          </a:p>
        </p:txBody>
      </p:sp>
      <p:sp>
        <p:nvSpPr>
          <p:cNvPr id="36" name="TextBox 35"/>
          <p:cNvSpPr txBox="1"/>
          <p:nvPr/>
        </p:nvSpPr>
        <p:spPr>
          <a:xfrm rot="20095450">
            <a:off x="8546476" y="1211597"/>
            <a:ext cx="1107996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10.40.0.2:80</a:t>
            </a:r>
          </a:p>
        </p:txBody>
      </p:sp>
      <p:sp>
        <p:nvSpPr>
          <p:cNvPr id="37" name="TextBox 36"/>
          <p:cNvSpPr txBox="1"/>
          <p:nvPr/>
        </p:nvSpPr>
        <p:spPr>
          <a:xfrm rot="20095450">
            <a:off x="5604580" y="4759039"/>
            <a:ext cx="1107996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10.43.0.2:80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503405" y="1076141"/>
            <a:ext cx="1389044" cy="1143196"/>
            <a:chOff x="2503405" y="1076141"/>
            <a:chExt cx="1389044" cy="1143196"/>
          </a:xfrm>
        </p:grpSpPr>
        <p:sp>
          <p:nvSpPr>
            <p:cNvPr id="17" name="Cube 16"/>
            <p:cNvSpPr/>
            <p:nvPr/>
          </p:nvSpPr>
          <p:spPr>
            <a:xfrm>
              <a:off x="3079179" y="1439216"/>
              <a:ext cx="636645" cy="552388"/>
            </a:xfrm>
            <a:prstGeom prst="cub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>
              <a:off x="2891512" y="1218045"/>
              <a:ext cx="1000937" cy="1001292"/>
            </a:xfrm>
            <a:prstGeom prst="ellipse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extBox 37"/>
            <p:cNvSpPr txBox="1"/>
            <p:nvPr/>
          </p:nvSpPr>
          <p:spPr>
            <a:xfrm rot="20095450">
              <a:off x="2503405" y="1076141"/>
              <a:ext cx="1252435" cy="276999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en-US" sz="1200" dirty="0"/>
                <a:t>10.30.0.2:5672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703895" y="3526948"/>
            <a:ext cx="1417489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10.97.14.200:5673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3894984" y="4777478"/>
            <a:ext cx="1389044" cy="1143196"/>
            <a:chOff x="4011884" y="4502150"/>
            <a:chExt cx="1389044" cy="1143196"/>
          </a:xfrm>
        </p:grpSpPr>
        <p:sp>
          <p:nvSpPr>
            <p:cNvPr id="42" name="Cube 41"/>
            <p:cNvSpPr/>
            <p:nvPr/>
          </p:nvSpPr>
          <p:spPr>
            <a:xfrm>
              <a:off x="4587658" y="4865225"/>
              <a:ext cx="636645" cy="552388"/>
            </a:xfrm>
            <a:prstGeom prst="cub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4399991" y="4644054"/>
              <a:ext cx="1000937" cy="1001292"/>
            </a:xfrm>
            <a:prstGeom prst="ellipse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/>
            <p:cNvSpPr txBox="1"/>
            <p:nvPr/>
          </p:nvSpPr>
          <p:spPr>
            <a:xfrm rot="20095450">
              <a:off x="4011884" y="4502150"/>
              <a:ext cx="1252435" cy="276999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en-US" sz="1200" dirty="0"/>
                <a:t>10.32.0.3:5672</a:t>
              </a:r>
            </a:p>
          </p:txBody>
        </p:sp>
      </p:grpSp>
      <p:sp>
        <p:nvSpPr>
          <p:cNvPr id="46" name="TextBox 45"/>
          <p:cNvSpPr txBox="1"/>
          <p:nvPr/>
        </p:nvSpPr>
        <p:spPr>
          <a:xfrm>
            <a:off x="6416772" y="3527110"/>
            <a:ext cx="1611853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10.105.128.60:8080</a:t>
            </a:r>
          </a:p>
        </p:txBody>
      </p:sp>
      <p:cxnSp>
        <p:nvCxnSpPr>
          <p:cNvPr id="6" name="Straight Arrow Connector 5"/>
          <p:cNvCxnSpPr>
            <a:stCxn id="3" idx="3"/>
            <a:endCxn id="40" idx="3"/>
          </p:cNvCxnSpPr>
          <p:nvPr/>
        </p:nvCxnSpPr>
        <p:spPr>
          <a:xfrm flipV="1">
            <a:off x="7045160" y="2224636"/>
            <a:ext cx="1953603" cy="15695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3" idx="4"/>
            <a:endCxn id="41" idx="7"/>
          </p:cNvCxnSpPr>
          <p:nvPr/>
        </p:nvCxnSpPr>
        <p:spPr>
          <a:xfrm>
            <a:off x="6663299" y="4174587"/>
            <a:ext cx="136925" cy="909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endCxn id="43" idx="7"/>
          </p:cNvCxnSpPr>
          <p:nvPr/>
        </p:nvCxnSpPr>
        <p:spPr>
          <a:xfrm flipH="1">
            <a:off x="5137444" y="4371016"/>
            <a:ext cx="146584" cy="69500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31" idx="3"/>
            <a:endCxn id="44" idx="5"/>
          </p:cNvCxnSpPr>
          <p:nvPr/>
        </p:nvCxnSpPr>
        <p:spPr>
          <a:xfrm flipH="1" flipV="1">
            <a:off x="3745865" y="2072701"/>
            <a:ext cx="1558337" cy="1681725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" name="Group 64"/>
          <p:cNvGrpSpPr/>
          <p:nvPr/>
        </p:nvGrpSpPr>
        <p:grpSpPr>
          <a:xfrm>
            <a:off x="5472990" y="2170808"/>
            <a:ext cx="562350" cy="488668"/>
            <a:chOff x="6209100" y="1600200"/>
            <a:chExt cx="562350" cy="488668"/>
          </a:xfrm>
        </p:grpSpPr>
        <p:sp>
          <p:nvSpPr>
            <p:cNvPr id="66" name="Oval 65"/>
            <p:cNvSpPr/>
            <p:nvPr/>
          </p:nvSpPr>
          <p:spPr>
            <a:xfrm>
              <a:off x="6209100" y="1600200"/>
              <a:ext cx="562350" cy="488668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D</a:t>
              </a:r>
            </a:p>
          </p:txBody>
        </p:sp>
        <p:sp>
          <p:nvSpPr>
            <p:cNvPr id="67" name="Curved Right Arrow 66"/>
            <p:cNvSpPr/>
            <p:nvPr/>
          </p:nvSpPr>
          <p:spPr>
            <a:xfrm>
              <a:off x="6283249" y="1626347"/>
              <a:ext cx="282174" cy="451915"/>
            </a:xfrm>
            <a:prstGeom prst="curvedRightArrow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3161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" grpId="0" animBg="1"/>
      <p:bldP spid="31" grpId="0" animBg="1"/>
      <p:bldP spid="39" grpId="0"/>
      <p:bldP spid="4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Service routes traffic across a set of Pods</a:t>
            </a:r>
          </a:p>
          <a:p>
            <a:r>
              <a:rPr lang="en-US" dirty="0"/>
              <a:t>The set of Pods targeted by a Service is usually determined by a </a:t>
            </a:r>
            <a:r>
              <a:rPr lang="en-US" i="1" dirty="0" err="1"/>
              <a:t>LabelSelector</a:t>
            </a:r>
            <a:endParaRPr lang="en-US" dirty="0"/>
          </a:p>
          <a:p>
            <a:r>
              <a:rPr lang="en-US" dirty="0"/>
              <a:t>A Service is an abstraction that allow pods to die and replicate in </a:t>
            </a:r>
            <a:r>
              <a:rPr lang="en-US" dirty="0" err="1"/>
              <a:t>Kubernetes</a:t>
            </a:r>
            <a:r>
              <a:rPr lang="en-US" dirty="0"/>
              <a:t> without impacting your application. </a:t>
            </a:r>
          </a:p>
          <a:p>
            <a:r>
              <a:rPr lang="en-US" dirty="0"/>
              <a:t>Discovery and routing among Pods is handled by </a:t>
            </a:r>
            <a:r>
              <a:rPr lang="en-US" dirty="0" err="1"/>
              <a:t>Kubernetes</a:t>
            </a:r>
            <a:r>
              <a:rPr lang="en-US" dirty="0"/>
              <a:t> Services.</a:t>
            </a:r>
          </a:p>
        </p:txBody>
      </p:sp>
    </p:spTree>
    <p:extLst>
      <p:ext uri="{BB962C8B-B14F-4D97-AF65-F5344CB8AC3E}">
        <p14:creationId xmlns:p14="http://schemas.microsoft.com/office/powerpoint/2010/main" val="10070501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4812"/>
          </a:xfrm>
        </p:spPr>
        <p:txBody>
          <a:bodyPr/>
          <a:lstStyle/>
          <a:p>
            <a:r>
              <a:rPr lang="en-US" dirty="0"/>
              <a:t>Working with </a:t>
            </a:r>
            <a:r>
              <a:rPr lang="en-US" b="1" dirty="0" err="1"/>
              <a:t>kubectl</a:t>
            </a:r>
            <a:r>
              <a:rPr lang="en-US" dirty="0"/>
              <a:t> Imperative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36914"/>
            <a:ext cx="10515600" cy="47400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Expose and Scale your Application  (</a:t>
            </a:r>
            <a:r>
              <a:rPr lang="en-US" dirty="0">
                <a:solidFill>
                  <a:srgbClr val="FF0000"/>
                </a:solidFill>
                <a:hlinkClick r:id="rId2"/>
              </a:rPr>
              <a:t>Lab: task-2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838200" y="1944914"/>
            <a:ext cx="10932886" cy="46563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a service for my-app deployment, on port 80 and connects to the containers on port 8000.</a:t>
            </a:r>
            <a:r>
              <a:rPr lang="en-US" sz="2400" dirty="0">
                <a:solidFill>
                  <a:srgbClr val="24292E"/>
                </a:solidFill>
                <a:latin typeface="SFMono-Regular"/>
              </a:rPr>
              <a:t> </a:t>
            </a:r>
          </a:p>
          <a:p>
            <a:pPr lvl="0"/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expose deployment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--port=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80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--target-port=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8000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/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 all services </a:t>
            </a:r>
          </a:p>
          <a:p>
            <a:pPr lvl="0"/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 svc </a:t>
            </a:r>
          </a:p>
          <a:p>
            <a:pPr lvl="0"/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 pods and show all labels as the last column </a:t>
            </a:r>
          </a:p>
          <a:p>
            <a:pPr lvl="0"/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--show-labels </a:t>
            </a:r>
          </a:p>
          <a:p>
            <a:pPr lvl="0"/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Scale a deployment named 'foo' to 3. </a:t>
            </a:r>
          </a:p>
          <a:p>
            <a:pPr lvl="0"/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scale deploy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--replicas=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6567325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587994"/>
            <a:ext cx="5171090" cy="9596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2867847"/>
            <a:ext cx="5171090" cy="9026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1542284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A </a:t>
            </a:r>
            <a:r>
              <a:rPr lang="en-US" sz="2800" dirty="0" err="1">
                <a:solidFill>
                  <a:schemeClr val="tx1"/>
                </a:solidFill>
              </a:rPr>
              <a:t>microservice</a:t>
            </a:r>
            <a:r>
              <a:rPr lang="en-US" sz="2800" dirty="0">
                <a:solidFill>
                  <a:schemeClr val="tx1"/>
                </a:solidFill>
              </a:rPr>
              <a:t> is an </a:t>
            </a:r>
            <a:r>
              <a:rPr lang="en-US" sz="2800" b="1" dirty="0">
                <a:solidFill>
                  <a:schemeClr val="tx1"/>
                </a:solidFill>
              </a:rPr>
              <a:t>isolated</a:t>
            </a:r>
            <a:r>
              <a:rPr lang="en-US" sz="2800" dirty="0">
                <a:solidFill>
                  <a:schemeClr val="tx1"/>
                </a:solidFill>
              </a:rPr>
              <a:t>, </a:t>
            </a:r>
            <a:r>
              <a:rPr lang="en-US" sz="2800" b="1" dirty="0">
                <a:solidFill>
                  <a:schemeClr val="tx1"/>
                </a:solidFill>
              </a:rPr>
              <a:t>loosely-coupled</a:t>
            </a:r>
            <a:r>
              <a:rPr lang="en-US" sz="2800" dirty="0">
                <a:solidFill>
                  <a:schemeClr val="tx1"/>
                </a:solidFill>
              </a:rPr>
              <a:t> unit of development that works on a </a:t>
            </a:r>
            <a:r>
              <a:rPr lang="en-US" sz="2800" b="1" dirty="0">
                <a:solidFill>
                  <a:schemeClr val="tx1"/>
                </a:solidFill>
              </a:rPr>
              <a:t>single concern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2793645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Kubernetes is an open-source platform designed to automate deploying, scaling, and operating application containers.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8200" y="4098810"/>
            <a:ext cx="5171090" cy="9619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8200" y="4079954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Using </a:t>
            </a:r>
            <a:r>
              <a:rPr lang="en-US" sz="2800" b="1" dirty="0" err="1">
                <a:solidFill>
                  <a:schemeClr val="tx1"/>
                </a:solidFill>
              </a:rPr>
              <a:t>kubectl</a:t>
            </a:r>
            <a:r>
              <a:rPr lang="en-US" sz="2800" dirty="0">
                <a:solidFill>
                  <a:schemeClr val="tx1"/>
                </a:solidFill>
              </a:rPr>
              <a:t> imperative commands to Deploy, Explore, Expose, Scale your Application</a:t>
            </a:r>
          </a:p>
        </p:txBody>
      </p:sp>
    </p:spTree>
    <p:extLst>
      <p:ext uri="{BB962C8B-B14F-4D97-AF65-F5344CB8AC3E}">
        <p14:creationId xmlns:p14="http://schemas.microsoft.com/office/powerpoint/2010/main" val="1717772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26102</TotalTime>
  <Words>1020</Words>
  <Application>Microsoft Macintosh PowerPoint</Application>
  <PresentationFormat>Widescreen</PresentationFormat>
  <Paragraphs>319</Paragraphs>
  <Slides>38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Courier New</vt:lpstr>
      <vt:lpstr>SFMono-Regular</vt:lpstr>
      <vt:lpstr>Wingdings</vt:lpstr>
      <vt:lpstr>Office Theme</vt:lpstr>
      <vt:lpstr>Using Kubernetes</vt:lpstr>
      <vt:lpstr>Agenda</vt:lpstr>
      <vt:lpstr>Microservices</vt:lpstr>
      <vt:lpstr>PowerPoint Presentation</vt:lpstr>
      <vt:lpstr>PowerPoint Presentation</vt:lpstr>
      <vt:lpstr>PowerPoint Presentation</vt:lpstr>
      <vt:lpstr>PowerPoint Presentation</vt:lpstr>
      <vt:lpstr>Containers Benefits </vt:lpstr>
      <vt:lpstr>Monolithic – Service Oriented - Microservices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Containers Orchestrator</vt:lpstr>
      <vt:lpstr>           Kubernetes (aka. K8s)</vt:lpstr>
      <vt:lpstr>Agenda</vt:lpstr>
      <vt:lpstr>Pod - the basic building block of Kubernetes</vt:lpstr>
      <vt:lpstr>Pod</vt:lpstr>
      <vt:lpstr>PowerPoint Presentation</vt:lpstr>
      <vt:lpstr>PowerPoint Presentation</vt:lpstr>
      <vt:lpstr>PowerPoint Presentation</vt:lpstr>
      <vt:lpstr>Working with kubectl Imperative Commands</vt:lpstr>
      <vt:lpstr>Pod</vt:lpstr>
      <vt:lpstr>Controller</vt:lpstr>
      <vt:lpstr>PowerPoint Presentation</vt:lpstr>
      <vt:lpstr>PowerPoint Presentation</vt:lpstr>
      <vt:lpstr>PowerPoint Presentation</vt:lpstr>
      <vt:lpstr>Service</vt:lpstr>
      <vt:lpstr>Working with kubectl Imperative Commands</vt:lpstr>
      <vt:lpstr>Agenda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Kubernetes</dc:title>
  <dc:creator>nesia amit</dc:creator>
  <cp:lastModifiedBy>nesia amit</cp:lastModifiedBy>
  <cp:revision>294</cp:revision>
  <dcterms:created xsi:type="dcterms:W3CDTF">2017-12-11T10:23:59Z</dcterms:created>
  <dcterms:modified xsi:type="dcterms:W3CDTF">2025-03-30T22:19:54Z</dcterms:modified>
</cp:coreProperties>
</file>